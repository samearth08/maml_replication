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5ae76bd21745f4" /><Relationship Type="http://schemas.openxmlformats.org/officeDocument/2006/relationships/extended-properties" Target="/docProps/app.xml" Id="R2be03bc42c7d40ad" /><Relationship Type="http://schemas.openxmlformats.org/officeDocument/2006/relationships/officeDocument" Target="/ppt/presentation.xml" Id="Rd55b721247c84bab" /></Relationships>
</file>

<file path=ppt/presentation.xml><?xml version="1.0" encoding="utf-8"?>
<p:presentation xmlns:p="http://schemas.openxmlformats.org/presentationml/2006/main">
  <p:sldMasterIdLst>
    <p:sldMasterId xmlns:r="http://schemas.openxmlformats.org/officeDocument/2006/relationships" id="2147483648" r:id="R332e01639ac84aa0"/>
  </p:sldMasterIdLst>
  <p:notesMasterIdLst>
    <p:notesMasterId xmlns:r="http://schemas.openxmlformats.org/officeDocument/2006/relationships" r:id="R857784ab857c4972"/>
  </p:notesMasterIdLst>
  <p:sldIdLst>
    <p:sldId xmlns:r="http://schemas.openxmlformats.org/officeDocument/2006/relationships" id="256" r:id="R4a5444a5b7ba4045"/>
    <p:sldId xmlns:r="http://schemas.openxmlformats.org/officeDocument/2006/relationships" id="257" r:id="R31bf43377be441ba"/>
    <p:sldId xmlns:r="http://schemas.openxmlformats.org/officeDocument/2006/relationships" id="258" r:id="Re4bcb79c20214926"/>
    <p:sldId xmlns:r="http://schemas.openxmlformats.org/officeDocument/2006/relationships" id="259" r:id="Rc7785cc536b6494b"/>
    <p:sldId xmlns:r="http://schemas.openxmlformats.org/officeDocument/2006/relationships" id="260" r:id="R55e6a1ae2b724eb8"/>
    <p:sldId xmlns:r="http://schemas.openxmlformats.org/officeDocument/2006/relationships" id="261" r:id="Ra09e4531eec044f4"/>
    <p:sldId xmlns:r="http://schemas.openxmlformats.org/officeDocument/2006/relationships" id="262" r:id="Ra778fe2535834d97"/>
    <p:sldId xmlns:r="http://schemas.openxmlformats.org/officeDocument/2006/relationships" id="263" r:id="R3cfe166b02004d66"/>
    <p:sldId xmlns:r="http://schemas.openxmlformats.org/officeDocument/2006/relationships" id="264" r:id="R048c67ad4296458c"/>
    <p:sldId xmlns:r="http://schemas.openxmlformats.org/officeDocument/2006/relationships" id="265" r:id="R1420888b61784679"/>
    <p:sldId xmlns:r="http://schemas.openxmlformats.org/officeDocument/2006/relationships" id="266" r:id="R9719acfac19540ef"/>
    <p:sldId xmlns:r="http://schemas.openxmlformats.org/officeDocument/2006/relationships" id="267" r:id="R4a2c4c9985194b46"/>
    <p:sldId xmlns:r="http://schemas.openxmlformats.org/officeDocument/2006/relationships" id="268" r:id="R731805dfca064fd0"/>
    <p:sldId xmlns:r="http://schemas.openxmlformats.org/officeDocument/2006/relationships" id="269" r:id="Rff7a85371b3345ae"/>
    <p:sldId xmlns:r="http://schemas.openxmlformats.org/officeDocument/2006/relationships" id="270" r:id="R22e44d0ad1bb4017"/>
    <p:sldId xmlns:r="http://schemas.openxmlformats.org/officeDocument/2006/relationships" id="271" r:id="R405378ed527843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0ceb49eb894ebb" /><Relationship Type="http://schemas.openxmlformats.org/officeDocument/2006/relationships/slideMaster" Target="/ppt/slideMasters/slideMaster1.xml" Id="R332e01639ac84aa0" /><Relationship Type="http://schemas.openxmlformats.org/officeDocument/2006/relationships/notesMaster" Target="/ppt/notesMasters/notesMaster1.xml" Id="R857784ab857c4972" /><Relationship Type="http://schemas.openxmlformats.org/officeDocument/2006/relationships/presProps" Target="/ppt/presProps.xml" Id="Rf0e6a9eee49a4213" /><Relationship Type="http://schemas.openxmlformats.org/officeDocument/2006/relationships/tableStyles" Target="/ppt/tableStyles.xml" Id="R8f4dd102fb2f4524" /><Relationship Type="http://schemas.openxmlformats.org/officeDocument/2006/relationships/slide" Target="/ppt/slides/slide1.xml" Id="R4a5444a5b7ba4045" /><Relationship Type="http://schemas.openxmlformats.org/officeDocument/2006/relationships/slide" Target="/ppt/slides/slide2.xml" Id="R31bf43377be441ba" /><Relationship Type="http://schemas.openxmlformats.org/officeDocument/2006/relationships/slide" Target="/ppt/slides/slide3.xml" Id="Re4bcb79c20214926" /><Relationship Type="http://schemas.openxmlformats.org/officeDocument/2006/relationships/slide" Target="/ppt/slides/slide4.xml" Id="Rc7785cc536b6494b" /><Relationship Type="http://schemas.openxmlformats.org/officeDocument/2006/relationships/slide" Target="/ppt/slides/slide5.xml" Id="R55e6a1ae2b724eb8" /><Relationship Type="http://schemas.openxmlformats.org/officeDocument/2006/relationships/slide" Target="/ppt/slides/slide6.xml" Id="Ra09e4531eec044f4" /><Relationship Type="http://schemas.openxmlformats.org/officeDocument/2006/relationships/slide" Target="/ppt/slides/slide7.xml" Id="Ra778fe2535834d97" /><Relationship Type="http://schemas.openxmlformats.org/officeDocument/2006/relationships/slide" Target="/ppt/slides/slide8.xml" Id="R3cfe166b02004d66" /><Relationship Type="http://schemas.openxmlformats.org/officeDocument/2006/relationships/slide" Target="/ppt/slides/slide9.xml" Id="R048c67ad4296458c" /><Relationship Type="http://schemas.openxmlformats.org/officeDocument/2006/relationships/slide" Target="/ppt/slides/slide10.xml" Id="R1420888b61784679" /><Relationship Type="http://schemas.openxmlformats.org/officeDocument/2006/relationships/slide" Target="/ppt/slides/slide11.xml" Id="R9719acfac19540ef" /><Relationship Type="http://schemas.openxmlformats.org/officeDocument/2006/relationships/slide" Target="/ppt/slides/slide12.xml" Id="R4a2c4c9985194b46" /><Relationship Type="http://schemas.openxmlformats.org/officeDocument/2006/relationships/slide" Target="/ppt/slides/slide13.xml" Id="R731805dfca064fd0" /><Relationship Type="http://schemas.openxmlformats.org/officeDocument/2006/relationships/slide" Target="/ppt/slides/slide14.xml" Id="Rff7a85371b3345ae" /><Relationship Type="http://schemas.openxmlformats.org/officeDocument/2006/relationships/slide" Target="/ppt/slides/slide15.xml" Id="R22e44d0ad1bb4017" /><Relationship Type="http://schemas.openxmlformats.org/officeDocument/2006/relationships/slide" Target="/ppt/slides/slide16.xml" Id="R405378ed527843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07e7e2c3c64b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029abfeda14900" /><Relationship Type="http://schemas.openxmlformats.org/officeDocument/2006/relationships/notesMaster" Target="/ppt/notesMasters/notesMaster1.xml" Id="R0f94fac8c8a54e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bef88941424d69" /><Relationship Type="http://schemas.openxmlformats.org/officeDocument/2006/relationships/notesMaster" Target="/ppt/notesMasters/notesMaster1.xml" Id="R30b58f6a7b4f46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21db8278964fa5" /><Relationship Type="http://schemas.openxmlformats.org/officeDocument/2006/relationships/notesMaster" Target="/ppt/notesMasters/notesMaster1.xml" Id="R40f5e7d67d9f44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e1733efcfa4a13" /><Relationship Type="http://schemas.openxmlformats.org/officeDocument/2006/relationships/notesMaster" Target="/ppt/notesMasters/notesMaster1.xml" Id="R69c67a5fca8049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6a705e99694b73" /><Relationship Type="http://schemas.openxmlformats.org/officeDocument/2006/relationships/notesMaster" Target="/ppt/notesMasters/notesMaster1.xml" Id="Rbda70f3d90a149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5f483585d44edc" /><Relationship Type="http://schemas.openxmlformats.org/officeDocument/2006/relationships/notesMaster" Target="/ppt/notesMasters/notesMaster1.xml" Id="R05fb648daecb4f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e156f9ffe144b6" /><Relationship Type="http://schemas.openxmlformats.org/officeDocument/2006/relationships/notesMaster" Target="/ppt/notesMasters/notesMaster1.xml" Id="R6050846b6e414f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314041bc944d31" /><Relationship Type="http://schemas.openxmlformats.org/officeDocument/2006/relationships/notesMaster" Target="/ppt/notesMasters/notesMaster1.xml" Id="Rf5b3c4cba1f247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f00175ab374d06" /><Relationship Type="http://schemas.openxmlformats.org/officeDocument/2006/relationships/notesMaster" Target="/ppt/notesMasters/notesMaster1.xml" Id="R104c50b5f97d45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2457c6b809482c" /><Relationship Type="http://schemas.openxmlformats.org/officeDocument/2006/relationships/notesMaster" Target="/ppt/notesMasters/notesMaster1.xml" Id="R2afa6fd88b7148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cd5454c8c64a08" /><Relationship Type="http://schemas.openxmlformats.org/officeDocument/2006/relationships/notesMaster" Target="/ppt/notesMasters/notesMaster1.xml" Id="R8d57551bcdfc4f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e87d3c1c554a4c" /><Relationship Type="http://schemas.openxmlformats.org/officeDocument/2006/relationships/notesMaster" Target="/ppt/notesMasters/notesMaster1.xml" Id="R8d796e653a234e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a3e790c08f4852" /><Relationship Type="http://schemas.openxmlformats.org/officeDocument/2006/relationships/notesMaster" Target="/ppt/notesMasters/notesMaster1.xml" Id="Rfd807323893747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a490c59d8a45df" /><Relationship Type="http://schemas.openxmlformats.org/officeDocument/2006/relationships/notesMaster" Target="/ppt/notesMasters/notesMaster1.xml" Id="R4761c4d45cf64c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816a2db1fb42d4" /><Relationship Type="http://schemas.openxmlformats.org/officeDocument/2006/relationships/notesMaster" Target="/ppt/notesMasters/notesMaster1.xml" Id="R66bcaaa9836a40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c7bd3caf7f49e6" /><Relationship Type="http://schemas.openxmlformats.org/officeDocument/2006/relationships/notesMaster" Target="/ppt/notesMasters/notesMaster1.xml" Id="Ra871824c0f3846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practical replication of the paper, not a new algorithm. Explain that the aim is to identify bearing faults from very few labelled examples. The presentation covers the source paper, our single-notebook implementation and six completed experimental runs. Suggested duration: about 10–12 minutes. There are 16 slides including the title and references. Explain the process in order: bearing vibration, a few labelled examples, the CNN, adaptation, and measured results.</a:t>
            </a:r>
          </a:p>
          <a:p xmlns:a="http://schemas.openxmlformats.org/drawingml/2006/main">
            <a:r>
              <a:t/>
            </a:r>
          </a:p>
          <a:p xmlns:a="http://schemas.openxmlformats.org/drawingml/2006/main">
            <a:r>
              <a:t>Evidence / sources:</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Project: src/MAML_Bearing_Reproduction.ipynb; documents/IEEE_Reproduction_Paper.pdf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physical problem before discussing machine learning. A bearing supports a rotating shaft and helps reduce friction. A fault in a ball or either ring changes the measured vibration. Inner race and outer race are the technical names for the inner and outer rings. Our project uses recorded vibration, not camera images. The goal is fault classification when only a few labelled examples of a new class are available. This project is an offline experiment on CWRU data, not a deployed machine-monitoring system.</a:t>
            </a:r>
          </a:p>
          <a:p xmlns:a="http://schemas.openxmlformats.org/drawingml/2006/main">
            <a:r>
              <a:t/>
            </a:r>
          </a:p>
          <a:p xmlns:a="http://schemas.openxmlformats.org/drawingml/2006/main">
            <a:r>
              <a:t>Evidence / sources:</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Case Western Reserve University Bearing Data Center. https://engineering.case.edu/bearingdatacenter/download-data-file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authors: Shen Zhang, Fei Ye, Bingnan Wang and Thomas G. Habetler. We examined the June 2021 arXiv v4; its first arXiv submission was in 2020. CNN stands for convolutional neural network. MAML stands for model-agnostic meta-learning. The CNN is the classifier; MAML is the learning procedure. The paper also studies artificial-to-real transfer on Paderborn and other comparisons. We completed two CWRU five-shot configurations and did not run all paper experiments. Our implementation uses learned adaptation rates, following the corresponding version in the paper.</a:t>
            </a:r>
          </a:p>
          <a:p xmlns:a="http://schemas.openxmlformats.org/drawingml/2006/main">
            <a:r>
              <a:t/>
            </a:r>
          </a:p>
          <a:p xmlns:a="http://schemas.openxmlformats.org/drawingml/2006/main">
            <a:r>
              <a:t>Evidence / sources:</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Finn, C., Abbeel, P., and Levine, S. Model-Agnostic Meta-Learning for Fast Adaptation of Deep Networks. ICML, 2017. https://proceedings.mlr.press/v70/finn17a.html</a:t>
            </a:r>
          </a:p>
          <a:p xmlns:a="http://schemas.openxmlformats.org/drawingml/2006/main">
            <a:r>
              <a:t>documents/paper_analysis.md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example of our 3-way test: the three outer-race fault sizes are the held-out classes. One episode, or task, has 15 labelled support examples in total and 45 queries in total. The support labels are available for the model’s one-step adjustment. Query labels are kept for scoring, not for adjustment during testing. A 5-way test has 25 support examples and 75 queries. Five-shot refers to support examples per class, not the entire training dataset. Training tasks use four queries per class because their pool contains nine examples per class.</a:t>
            </a:r>
          </a:p>
          <a:p xmlns:a="http://schemas.openxmlformats.org/drawingml/2006/main">
            <a:r>
              <a:t/>
            </a:r>
          </a:p>
          <a:p xmlns:a="http://schemas.openxmlformats.org/drawingml/2006/main">
            <a:r>
              <a:t>Evidence / sources:</a:t>
            </a:r>
          </a:p>
          <a:p xmlns:a="http://schemas.openxmlformats.org/drawingml/2006/main">
            <a:r>
              <a:t>src/MAML_Bearing_Reproduction.ipynb: TaskSampler, evaluate_model</a:t>
            </a:r>
          </a:p>
          <a:p xmlns:a="http://schemas.openxmlformats.org/drawingml/2006/main">
            <a:r>
              <a:t>documents/paper_analysis.md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an unchanged saved output showing the drive-end and fan-end signals for one outer-race fault recording. CWRU means Case Western Reserve University. The nine fault classes combine three fault locations with three diameters: 0.007, 0.014 and 0.021 inches. There is also one healthy class. We use ten classes at three loads, giving 30 source files. The measurements are real, but the defects were seeded in laboratory bearings, so do not describe them as naturally developed industrial faults. Raw data is stored separately from the submission; exact official file IDs are in data/download_manifest.csv.</a:t>
            </a:r>
          </a:p>
          <a:p xmlns:a="http://schemas.openxmlformats.org/drawingml/2006/main">
            <a:r>
              <a:t/>
            </a:r>
          </a:p>
          <a:p xmlns:a="http://schemas.openxmlformats.org/drawingml/2006/main">
            <a:r>
              <a:t>Evidence / sources:</a:t>
            </a:r>
          </a:p>
          <a:p xmlns:a="http://schemas.openxmlformats.org/drawingml/2006/main">
            <a:r>
              <a:t>Case Western Reserve University Bearing Data Center. https://engineering.case.edu/bearingdatacenter/download-data-file</a:t>
            </a:r>
          </a:p>
          <a:p xmlns:a="http://schemas.openxmlformats.org/drawingml/2006/main">
            <a:r>
              <a:t>results/figures/raw_signal.png</a:t>
            </a:r>
          </a:p>
          <a:p xmlns:a="http://schemas.openxmlformats.org/drawingml/2006/main">
            <a:r>
              <a:t>data/download_manifest.csv</a:t>
            </a:r>
          </a:p>
          <a:p xmlns:a="http://schemas.openxmlformats.org/drawingml/2006/main">
            <a:r>
              <a:t>results/tables/dataset_statistics.csv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arrow. We take synchronized windows from the two sensors. Two times 2048 gives 4096 values, and 64 times 64 also gives 4096. We subtract each example’s mean and divide by its standard deviation; this is called z-score normalization. We then reshape the values into a grid that the CNN can process. The colours in the saved plot show signal values, with display clipping only; they are not camera colours. The actual inputs retain their normalized values. We use non-overlapping windows, yielding 1771 samples. Healthy recordings are treated as 48 kHz and resampled to 12 kHz; the channel rate assumption is documented. Normalization, stride and concatenation order are declared choices where paper details were incomplete.</a:t>
            </a:r>
          </a:p>
          <a:p xmlns:a="http://schemas.openxmlformats.org/drawingml/2006/main">
            <a:r>
              <a:t/>
            </a:r>
          </a:p>
          <a:p xmlns:a="http://schemas.openxmlformats.org/drawingml/2006/main">
            <a:r>
              <a:t>Evidence / sources:</a:t>
            </a:r>
          </a:p>
          <a:p xmlns:a="http://schemas.openxmlformats.org/drawingml/2006/main">
            <a:r>
              <a:t>src/MAML_Bearing_Reproduction.ipynb: load_channels, normalize_window, load_dataset</a:t>
            </a:r>
          </a:p>
          <a:p xmlns:a="http://schemas.openxmlformats.org/drawingml/2006/main">
            <a:r>
              <a:t>results/figures/example_samples.png</a:t>
            </a:r>
          </a:p>
          <a:p xmlns:a="http://schemas.openxmlformats.org/drawingml/2006/main">
            <a:r>
              <a:t>documents/paper_analysis.md</a:t>
            </a:r>
          </a:p>
          <a:p xmlns:a="http://schemas.openxmlformats.org/drawingml/2006/main">
            <a:r>
              <a:t>Zhang, S., Ye, F., Wang, B., and Habetler, T. G. Few-Shot Bearing Fault Diagnosis Based on Model-Agnostic Meta-Learning. arXiv:2007.12851v4, 2021. https://arxiv.org/abs/2007.12851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has one channel and spatial size 64 by 64. Each of the four blocks has a 3 by 3 convolution with 64 filters, batch normalization, ReLU and 2 by 2 max pooling. Padding of one keeps the spatial size unchanged before pooling. Four halvings give 64, 32, 16, 8, then 4. The final tensor has 64 channels times 4 times 4 positions, which equals 1024 features. A linear layer maps these features to three or five class scores; the highest score gives the prediction. Cross-entropy handles the class scores during training. CNN parameter counts are 115011 for 3-way and 117061 for 5-way; nine learned adaptation rates are additional. Padding and the precise flattened head are documented choices. The paper’s four-block CNN sequence is retained.</a:t>
            </a:r>
          </a:p>
          <a:p xmlns:a="http://schemas.openxmlformats.org/drawingml/2006/main">
            <a:r>
              <a:t/>
            </a:r>
          </a:p>
          <a:p xmlns:a="http://schemas.openxmlformats.org/drawingml/2006/main">
            <a:r>
              <a:t>Evidence / sources:</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src/MAML_Bearing_Reproduction.ipynb: BearingCNN, parameter_counts</a:t>
            </a:r>
          </a:p>
          <a:p xmlns:a="http://schemas.openxmlformats.org/drawingml/2006/main">
            <a:r>
              <a:t>documents/paper_analysis.md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important distinction is between a temporary adjustment for one task and an improvement of the shared starting model. The temporary support adjustment is the inner update. Improving the shared initialization from query loss is the outer update. We do not carry a previous test task’s adapted weights into the next task. Our implementation uses full second-order MAML, so the outer gradient passes through the inner gradient computation using create_graph=True. The mathematical idea is theta-prime equals theta minus alpha times the support-loss gradient; the outer optimization improves theta using query loss evaluated at theta-prime. Adam implements our outer update. We also learn per-layer inner learning rates, initially 0.01. These equations and details are available for questions; first explain the three plain-language steps on the slide.</a:t>
            </a:r>
          </a:p>
          <a:p xmlns:a="http://schemas.openxmlformats.org/drawingml/2006/main">
            <a:r>
              <a:t/>
            </a:r>
          </a:p>
          <a:p xmlns:a="http://schemas.openxmlformats.org/drawingml/2006/main">
            <a:r>
              <a:t>Evidence / sources:</a:t>
            </a:r>
          </a:p>
          <a:p xmlns:a="http://schemas.openxmlformats.org/drawingml/2006/main">
            <a:r>
              <a:t>Finn, C., Abbeel, P., and Levine, S. Model-Agnostic Meta-Learning for Fast Adaptation of Deep Networks. ICML, 2017. https://proceedings.mlr.press/v70/finn17a.html</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Antoniou, A., Edwards, H., and Storkey, A. How to Train Your MAML. ICLR, 2019. https://arxiv.org/abs/1810.09502</a:t>
            </a:r>
          </a:p>
          <a:p xmlns:a="http://schemas.openxmlformats.org/drawingml/2006/main">
            <a:r>
              <a:t>src/MAML_Bearing_Reproduction.ipynb: MAML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implemented MAML directly with PyTorch autograd, not with a black-box MAML library. TaskSampler selects support and query examples; BearingCNN predicts class scores; MAML.adapt computes temporary weights; run_experiment trains and saves; evaluate_model scores predictions. These are functions and classes inside the one notebook, not separate project code files. Each run uses a random seed to control initialization and sampling. We used CPU with two threads. The outer optimizer is Adam with learning rate 0.001, a documented choice. Each training class provides nine examples: five support and four query. The final checkpoint is evaluated; there is no selection based on test accuracy. The paper used a substantially larger budget, which the comparison slide will explain.</a:t>
            </a:r>
          </a:p>
          <a:p xmlns:a="http://schemas.openxmlformats.org/drawingml/2006/main">
            <a:r>
              <a:t/>
            </a:r>
          </a:p>
          <a:p xmlns:a="http://schemas.openxmlformats.org/drawingml/2006/main">
            <a:r>
              <a:t>Evidence / sources:</a:t>
            </a:r>
          </a:p>
          <a:p xmlns:a="http://schemas.openxmlformats.org/drawingml/2006/main">
            <a:r>
              <a:t>src/MAML_Bearing_Reproduction.ipynb</a:t>
            </a:r>
          </a:p>
          <a:p xmlns:a="http://schemas.openxmlformats.org/drawingml/2006/main">
            <a:r>
              <a:t>results/tables/per_seed_results.csv</a:t>
            </a:r>
          </a:p>
          <a:p xmlns:a="http://schemas.openxmlformats.org/drawingml/2006/main">
            <a:r>
              <a:t>requirements.txt</a:t>
            </a:r>
          </a:p>
          <a:p xmlns:a="http://schemas.openxmlformats.org/drawingml/2006/main">
            <a:r>
              <a:t>Paszke, A., et al. PyTorch: An Imperative Style, High-Performance Deep Learning Library. NeurIPS, 2019. https://papers.nips.cc/paper/2019/hash/bdbca288fee7f92f2bfa9f7012727740-Abstract.html</a:t>
            </a:r>
          </a:p>
          <a:p xmlns:a="http://schemas.openxmlformats.org/drawingml/2006/main">
            <a:r>
              <a:t>Kingma, D. P., and Ba, J. Adam: A Method for Stochastic Optimization. ICLR, 2015. https://arxiv.org/abs/1412.6980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3-way, classes 1–7 are used in meta-training and classes 8–10 in testing. For 5-way, classes 1–5 are training classes and 6–10 are test classes. Source files are disjoint across these roles within each experiment. Test support comes from the earlier half of each recording and queries from the later half; one boundary window is discarded. No support sample is also a query sample in an episode. Batch-normalization uses support statistics for queries, and signal normalization is per example. Three-way has 45 query predictions per episode and five-way has 75. Thirty episodes times three seeds produce 4050 and 6750 pooled predictions respectively. These include repeated finite windows, so they are not independent bearing trials.</a:t>
            </a:r>
          </a:p>
          <a:p xmlns:a="http://schemas.openxmlformats.org/drawingml/2006/main">
            <a:r>
              <a:t/>
            </a:r>
          </a:p>
          <a:p xmlns:a="http://schemas.openxmlformats.org/drawingml/2006/main">
            <a:r>
              <a:t>Evidence / sources:</a:t>
            </a:r>
          </a:p>
          <a:p xmlns:a="http://schemas.openxmlformats.org/drawingml/2006/main">
            <a:r>
              <a:t>src/MAML_Bearing_Reproduction.ipynb: split_classes, make_pools, TaskSampler, evaluate_model</a:t>
            </a:r>
          </a:p>
          <a:p xmlns:a="http://schemas.openxmlformats.org/drawingml/2006/main">
            <a:r>
              <a:t>documents/paper_analysis.md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accuracy as 94.05 percent for 3-way and 58.03 percent for 5-way. The plus/minus values are sample standard deviations across three training-seed results, not confidence intervals. Precision, recall and F1 use macro averaging: calculate a score for each class and then give every class equal weight. Balanced query classes explain why recall equals overall accuracy here. Three-way seed accuracies are 95.33, 93.85 and 92.96. Five-way seed accuracies are 58.67, 52.44 and 62.98. The class composition changes as well as the number of classes, so this is not a controlled experiment isolating only task size. All table values are taken directly from saved generated results. Training curves describe training-class performance, not these held-out test scores.</a:t>
            </a:r>
          </a:p>
          <a:p xmlns:a="http://schemas.openxmlformats.org/drawingml/2006/main">
            <a:r>
              <a:t/>
            </a:r>
          </a:p>
          <a:p xmlns:a="http://schemas.openxmlformats.org/drawingml/2006/main">
            <a:r>
              <a:t>Evidence / sources:</a:t>
            </a:r>
          </a:p>
          <a:p xmlns:a="http://schemas.openxmlformats.org/drawingml/2006/main">
            <a:r>
              <a:t>results/tables/aggregate_results.csv</a:t>
            </a:r>
          </a:p>
          <a:p xmlns:a="http://schemas.openxmlformats.org/drawingml/2006/main">
            <a:r>
              <a:t>results/tables/per_seed_results.csv</a:t>
            </a:r>
          </a:p>
          <a:p xmlns:a="http://schemas.openxmlformats.org/drawingml/2006/main">
            <a:r>
              <a:t>results/figures/training_accuracy.png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predictions lie on the diagonal running from the top left to the bottom right. Values away from that diagonal are errors. IR means inner race, or inner ring. OR means outer race, or outer ring. The suffixes 007, 014 and 021 mean fault diameters 0.007, 0.014 and 0.021 inches. The left matrix pools all three 3-way runs and the right all three 5-way runs. The 3-way outer-ring 0.014 class has 100 percent recall in this evaluation only. The largest 5-way error is 812 true inner-ring 0.021 predictions labelled outer-ring 0.021. Inner-ring recall is 25.78 percent and 34.52 percent for the two held-out sizes. We have observed these mistakes but have not proven their physical cause through additional ablations.</a:t>
            </a:r>
          </a:p>
          <a:p xmlns:a="http://schemas.openxmlformats.org/drawingml/2006/main">
            <a:r>
              <a:t/>
            </a:r>
          </a:p>
          <a:p xmlns:a="http://schemas.openxmlformats.org/drawingml/2006/main">
            <a:r>
              <a:t>Evidence / sources:</a:t>
            </a:r>
          </a:p>
          <a:p xmlns:a="http://schemas.openxmlformats.org/drawingml/2006/main">
            <a:r>
              <a:t>results/tables/confusion_matrix_3way_5shot.csv</a:t>
            </a:r>
          </a:p>
          <a:p xmlns:a="http://schemas.openxmlformats.org/drawingml/2006/main">
            <a:r>
              <a:t>results/tables/confusion_matrix_5way_5shot.csv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uses the learnable-rate MAML column from Table V, not the fixed-rate column. A difference of 3.69 points means 94.05 minus 90.36; it is a percentage-point difference, not a relative percent improvement. Five-way is 21.95 percentage points below the paper. The paper trained with 1500 iterations and 25 tasks per meta-batch and reported ten rounds; we used 100 iterations, one task and three independent training seeds. The paper reports 1980 segments per class, while our non-overlapping preprocessing yields around 177 per class. Exact stride, normalization, query counts and several architecture details required documented choices. These differences may contribute to the result gap, but we did not isolate their effects experimentally. Do not claim exact numerical reproduction or algorithmic superiority.</a:t>
            </a:r>
          </a:p>
          <a:p xmlns:a="http://schemas.openxmlformats.org/drawingml/2006/main">
            <a:r>
              <a:t/>
            </a:r>
          </a:p>
          <a:p xmlns:a="http://schemas.openxmlformats.org/drawingml/2006/main">
            <a:r>
              <a:t>Evidence / sources:</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results/tables/paper_vs_ours.csv</a:t>
            </a:r>
          </a:p>
          <a:p xmlns:a="http://schemas.openxmlformats.org/drawingml/2006/main">
            <a:r>
              <a:t>documents/paper_analysis.md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limited compute budget is a documented practical constraint. It is a possible reason for lower five-way accuracy, not a proven explanation. Fixed-rate MAML has gradient checks but no completed fixed-rate benchmark. One-shot tasks and Paderborn transfer were not run. Our test windows come from the same physical bearings and finite recordings, and repeated tasks reuse windows. Therefore high accuracy does not guarantee generalization to another machine. Future ablations should hold everything else constant while changing the training budget or preprocessing. Handling MATLAB sensor keys, the extra channels in file 99 and differentiating through adaptation were implementation challenges we addressed in the notebook.</a:t>
            </a:r>
          </a:p>
          <a:p xmlns:a="http://schemas.openxmlformats.org/drawingml/2006/main">
            <a:r>
              <a:t/>
            </a:r>
          </a:p>
          <a:p xmlns:a="http://schemas.openxmlformats.org/drawingml/2006/main">
            <a:r>
              <a:t>Evidence / sources:</a:t>
            </a:r>
          </a:p>
          <a:p xmlns:a="http://schemas.openxmlformats.org/drawingml/2006/main">
            <a:r>
              <a:t>documents/paper_analysis.md</a:t>
            </a:r>
          </a:p>
          <a:p xmlns:a="http://schemas.openxmlformats.org/drawingml/2006/main">
            <a:r>
              <a:t>results/replication_checklist.md</a:t>
            </a:r>
          </a:p>
          <a:p xmlns:a="http://schemas.openxmlformats.org/drawingml/2006/main">
            <a:r>
              <a:t>documents/supplementary/reproduction_report.md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in your own words: I implemented the main learning method in one notebook and evaluated it on real recorded data. The three-way task worked well, but the five-way result was clearly below the paper, which I reported rather than hiding. I learned how support adaptation differs from the shared training update, how data separation affects evaluation, and why a paper comparison must explain different settings. For a live demonstration, open src/MAML_Bearing_Reproduction.ipynb and show samples, the model, experiment outputs and final verification. RERUN_TRAINING=False reuses saved matching runs after configuration and data checks; setting it true retrains. Use the notes as preparation, but explain the slides in simple words.</a:t>
            </a:r>
          </a:p>
          <a:p xmlns:a="http://schemas.openxmlformats.org/drawingml/2006/main">
            <a:r>
              <a:t/>
            </a:r>
          </a:p>
          <a:p xmlns:a="http://schemas.openxmlformats.org/drawingml/2006/main">
            <a:r>
              <a:t>Evidence / sources:</a:t>
            </a:r>
          </a:p>
          <a:p xmlns:a="http://schemas.openxmlformats.org/drawingml/2006/main">
            <a:r>
              <a:t>src/MAML_Bearing_Reproduction.ipynb</a:t>
            </a:r>
          </a:p>
          <a:p xmlns:a="http://schemas.openxmlformats.org/drawingml/2006/main">
            <a:r>
              <a:t>results/tables/aggregate_results.csv</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bearing paper supplies the proposed method and reference results; the foundational MAML paper explains learning an initialization; the official CWRU pages supply the recordings; How to Train Your MAML provides context for learned-rate meta-learning. Additional implementation references for Adam, BatchNorm and PyTorch are listed below. Our own measured results come from local experiment files, not external papers. The generic presentation suggestions attached by the user informed the order and clarity of the slides, not the technical claims; unrelated example links and images from that attachment were not used.</a:t>
            </a:r>
          </a:p>
          <a:p xmlns:a="http://schemas.openxmlformats.org/drawingml/2006/main">
            <a:r>
              <a:t/>
            </a:r>
          </a:p>
          <a:p xmlns:a="http://schemas.openxmlformats.org/drawingml/2006/main">
            <a:r>
              <a:t>Evidence / sources:</a:t>
            </a:r>
          </a:p>
          <a:p xmlns:a="http://schemas.openxmlformats.org/drawingml/2006/main">
            <a:r>
              <a:t>Zhang, S., Ye, F., Wang, B., and Habetler, T. G. Few-Shot Bearing Fault Diagnosis Based on Model-Agnostic Meta-Learning. arXiv:2007.12851v4, 2021. https://arxiv.org/abs/2007.12851</a:t>
            </a:r>
          </a:p>
          <a:p xmlns:a="http://schemas.openxmlformats.org/drawingml/2006/main">
            <a:r>
              <a:t>Finn, C., Abbeel, P., and Levine, S. Model-Agnostic Meta-Learning for Fast Adaptation of Deep Networks. ICML, 2017. https://proceedings.mlr.press/v70/finn17a.html</a:t>
            </a:r>
          </a:p>
          <a:p xmlns:a="http://schemas.openxmlformats.org/drawingml/2006/main">
            <a:r>
              <a:t>Antoniou, A., Edwards, H., and Storkey, A. How to Train Your MAML. ICLR, 2019. https://arxiv.org/abs/1810.09502</a:t>
            </a:r>
          </a:p>
          <a:p xmlns:a="http://schemas.openxmlformats.org/drawingml/2006/main">
            <a:r>
              <a:t>Case Western Reserve University Bearing Data Center. https://engineering.case.edu/bearingdatacenter/download-data-file</a:t>
            </a:r>
          </a:p>
          <a:p xmlns:a="http://schemas.openxmlformats.org/drawingml/2006/main">
            <a:r>
              <a:t>Kingma, D. P., and Ba, J. Adam: A Method for Stochastic Optimization. ICLR, 2015. https://arxiv.org/abs/1412.6980</a:t>
            </a:r>
          </a:p>
          <a:p xmlns:a="http://schemas.openxmlformats.org/drawingml/2006/main">
            <a:r>
              <a:t>Ioffe, S., and Szegedy, C. Batch Normalization. ICML, 2015. https://proceedings.mlr.press/v37/ioffe15.html</a:t>
            </a:r>
          </a:p>
          <a:p xmlns:a="http://schemas.openxmlformats.org/drawingml/2006/main">
            <a:r>
              <a:t>Paszke, A., et al. PyTorch: An Imperative Style, High-Performance Deep Learning Library. NeurIPS, 2019. https://papers.nips.cc/paper/2019/hash/bdbca288fee7f92f2bfa9f7012727740-Abstract.html</a:t>
            </a:r>
          </a:p>
          <a:p xmlns:a="http://schemas.openxmlformats.org/drawingml/2006/main">
            <a:r>
              <a:t>Local results: results/tables/aggregate_results.csv; results/tables/per_seed_results.csv; results/tables/paper_vs_ours.csv.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67c3fb99824f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a055510f6044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5ec5a3c2c449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ec90aa1c584a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cfcc78e72b42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87b2a02c8b48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C813B2-6D30-4014-992A-2FC3FDE3F7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9A952E-C5E0-447F-9E24-EEC59BF549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FDD5FC-16FE-4055-99F3-102B1749A60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0D6700-71CD-4B36-9AD0-4CCC8D452F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60D6F6-4028-493F-B06F-316F384E8F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DAE2ABF-778F-4F57-BC43-4799C32C1C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91F1DF-1548-4C6B-A7F1-5AD26C5501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B61DDA-D99E-41CC-BB56-D8FDE075FE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AF9390-FC32-43E2-BF37-42855D9F89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F5A955-2F46-4E44-8327-1F23904427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267ca23cc84c1f" /><Relationship Type="http://schemas.openxmlformats.org/officeDocument/2006/relationships/slideLayout" Target="/ppt/slideLayouts/slideLayout1.xml" Id="R7af830c359a04fd5" /><Relationship Type="http://schemas.openxmlformats.org/officeDocument/2006/relationships/slideLayout" Target="/ppt/slideLayouts/slideLayout2.xml" Id="Rbd32c54836d547ee" /><Relationship Type="http://schemas.openxmlformats.org/officeDocument/2006/relationships/slideLayout" Target="/ppt/slideLayouts/slideLayout3.xml" Id="Rc79e360e1dd64497" /><Relationship Type="http://schemas.openxmlformats.org/officeDocument/2006/relationships/slideLayout" Target="/ppt/slideLayouts/slideLayout4.xml" Id="R3f157a20c1114263" /><Relationship Type="http://schemas.openxmlformats.org/officeDocument/2006/relationships/slideLayout" Target="/ppt/slideLayouts/slideLayout5.xml" Id="R3e2f94aeed6b47f0" /><Relationship Type="http://schemas.openxmlformats.org/officeDocument/2006/relationships/slideLayout" Target="/ppt/slideLayouts/slideLayout6.xml" Id="R36258d2a426a4b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f830c359a04fd5"/>
    <p:sldLayoutId xmlns:r="http://schemas.openxmlformats.org/officeDocument/2006/relationships" id="2147483650" r:id="Rbd32c54836d547ee"/>
    <p:sldLayoutId xmlns:r="http://schemas.openxmlformats.org/officeDocument/2006/relationships" id="2147483651" r:id="Rc79e360e1dd64497"/>
    <p:sldLayoutId xmlns:r="http://schemas.openxmlformats.org/officeDocument/2006/relationships" id="2147483652" r:id="R3f157a20c1114263"/>
    <p:sldLayoutId xmlns:r="http://schemas.openxmlformats.org/officeDocument/2006/relationships" id="2147483653" r:id="R3e2f94aeed6b47f0"/>
    <p:sldLayoutId xmlns:r="http://schemas.openxmlformats.org/officeDocument/2006/relationships" id="2147483654" r:id="R36258d2a426a4b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540ea80f574f5c" /><Relationship Type="http://schemas.openxmlformats.org/officeDocument/2006/relationships/notesSlide" Target="/ppt/notesSlides/notesSlide1.xml" Id="R6da0f004363a4d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e5a70389d24ec0" /><Relationship Type="http://schemas.openxmlformats.org/officeDocument/2006/relationships/notesSlide" Target="/ppt/notesSlides/notesSlide2.xml" Id="Ra3bb8304e55143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f3c0552c7e421a" /><Relationship Type="http://schemas.openxmlformats.org/officeDocument/2006/relationships/notesSlide" Target="/ppt/notesSlides/notesSlide3.xml" Id="R2dd4bf8dc38b4e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6bebc96433445c" /><Relationship Type="http://schemas.openxmlformats.org/officeDocument/2006/relationships/notesSlide" Target="/ppt/notesSlides/notesSlide4.xml" Id="Re0fcec07d31947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8127f2ea354f4b" /><Relationship Type="http://schemas.openxmlformats.org/officeDocument/2006/relationships/image" Target="/ppt/media/image.png" Id="Rc84b62f05d954467" /><Relationship Type="http://schemas.openxmlformats.org/officeDocument/2006/relationships/notesSlide" Target="/ppt/notesSlides/notesSlide5.xml" Id="R3d1fb77db9e946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17fcaa69d04530" /><Relationship Type="http://schemas.openxmlformats.org/officeDocument/2006/relationships/image" Target="/ppt/media/image2.png" Id="R86e91959a85f4704" /><Relationship Type="http://schemas.openxmlformats.org/officeDocument/2006/relationships/notesSlide" Target="/ppt/notesSlides/notesSlide6.xml" Id="Rb9e65bcdd8894e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ec9382f636420d" /><Relationship Type="http://schemas.openxmlformats.org/officeDocument/2006/relationships/notesSlide" Target="/ppt/notesSlides/notesSlide7.xml" Id="R9cfa9a21d12c4d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5e28d6377f4f27" /><Relationship Type="http://schemas.openxmlformats.org/officeDocument/2006/relationships/notesSlide" Target="/ppt/notesSlides/notesSlide8.xml" Id="Rfc55003b524f4b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c1a12ff99f4237" /><Relationship Type="http://schemas.openxmlformats.org/officeDocument/2006/relationships/notesSlide" Target="/ppt/notesSlides/notesSlide9.xml" Id="R1dbfde9d43b647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89ed20f6241407e" /><Relationship Type="http://schemas.openxmlformats.org/officeDocument/2006/relationships/notesSlide" Target="/ppt/notesSlides/notesSlide10.xml" Id="Recd829a473ee48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d4259b489544fd6" /><Relationship Type="http://schemas.openxmlformats.org/officeDocument/2006/relationships/notesSlide" Target="/ppt/notesSlides/notesSlide11.xml" Id="Ra5419317506b42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168c60eb6f4875" /><Relationship Type="http://schemas.openxmlformats.org/officeDocument/2006/relationships/image" Target="/ppt/media/image3.png" Id="R94cfe3824517471d" /><Relationship Type="http://schemas.openxmlformats.org/officeDocument/2006/relationships/image" Target="/ppt/media/image4.png" Id="R0051ec4467084346" /><Relationship Type="http://schemas.openxmlformats.org/officeDocument/2006/relationships/notesSlide" Target="/ppt/notesSlides/notesSlide12.xml" Id="Rfbbe270bb39c45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dc304eaa3b45ad" /><Relationship Type="http://schemas.openxmlformats.org/officeDocument/2006/relationships/notesSlide" Target="/ppt/notesSlides/notesSlide13.xml" Id="R438957c5f1b648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3c6eaf762374599" /><Relationship Type="http://schemas.openxmlformats.org/officeDocument/2006/relationships/notesSlide" Target="/ppt/notesSlides/notesSlide14.xml" Id="Rb96d9477786e4e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4c28c29459a42d0" /><Relationship Type="http://schemas.openxmlformats.org/officeDocument/2006/relationships/notesSlide" Target="/ppt/notesSlides/notesSlide15.xml" Id="R39e3d28ce55644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e514894a17b4cab" /><Relationship Type="http://schemas.openxmlformats.org/officeDocument/2006/relationships/notesSlide" Target="/ppt/notesSlides/notesSlide16.xml" Id="Ra605d461ceb14cf0" /></Relationships>
</file>

<file path=ppt/slides/slide1.xml><?xml version="1.0" encoding="utf-8"?>
<p:sld xmlns:p="http://schemas.openxmlformats.org/presentationml/2006/main">
  <p:cSld>
    <p:bg>
      <p:bgPr>
        <a:solidFill xmlns:a="http://schemas.openxmlformats.org/drawingml/2006/main">
          <a:srgbClr val="112D43"/>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197544B-5907-4FB9-9004-7EDB28FE56BC}"/>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BCD0DD"/>
                </a:solidFill>
                <a:latin typeface="Calibri"/>
                <a:ea typeface="Calibri"/>
                <a:cs typeface="Calibri"/>
              </a:defRPr>
            </a:defPPr>
          </a:lstStyle>
          <a:p xmlns:a="http://schemas.openxmlformats.org/drawingml/2006/main">
            <a:pPr algn="l">
              <a:defRPr sz="1125" b="0">
                <a:solidFill>
                  <a:srgbClr val="BCD0DD"/>
                </a:solidFill>
                <a:latin typeface="Calibri"/>
                <a:ea typeface="Calibri"/>
                <a:cs typeface="Calibri"/>
              </a:defRPr>
            </a:pPr>
            <a:r>
              <a:rPr sz="1125" b="0">
                <a:solidFill>
                  <a:srgbClr val="BCD0DD"/>
                </a:solidFill>
                <a:latin typeface="Calibri"/>
                <a:ea typeface="Calibri"/>
                <a:cs typeface="Calibri"/>
              </a:rPr>
              <a:t>Research paper replication • B.Tech AI &amp; Data Science</a:t>
            </a:r>
          </a:p>
        </p:txBody>
      </p:sp>
      <p:sp>
        <p:nvSpPr>
          <p:cNvPr id="2" name="text-1">
            <a:extLst xmlns:a="http://schemas.openxmlformats.org/drawingml/2006/main">
              <a:ext uri="{FF2B5EF4-FFF2-40B4-BE49-F238E27FC236}">
                <a16:creationId xmlns:a16="http://schemas.microsoft.com/office/drawing/2014/main" id="{BF73A2A5-0A76-4EE1-865A-F6F6403A643C}"/>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BCD0DD"/>
                </a:solidFill>
                <a:latin typeface="Calibri"/>
                <a:ea typeface="Calibri"/>
                <a:cs typeface="Calibri"/>
              </a:defRPr>
            </a:defPPr>
          </a:lstStyle>
          <a:p xmlns:a="http://schemas.openxmlformats.org/drawingml/2006/main">
            <a:pPr algn="r">
              <a:defRPr sz="1275" b="0">
                <a:solidFill>
                  <a:srgbClr val="BCD0DD"/>
                </a:solidFill>
                <a:latin typeface="Calibri"/>
                <a:ea typeface="Calibri"/>
                <a:cs typeface="Calibri"/>
              </a:defRPr>
            </a:pPr>
            <a:r>
              <a:rPr sz="1275" b="0">
                <a:solidFill>
                  <a:srgbClr val="BCD0DD"/>
                </a:solidFill>
                <a:latin typeface="Calibri"/>
                <a:ea typeface="Calibri"/>
                <a:cs typeface="Calibri"/>
              </a:rPr>
              <a:t>01</a:t>
            </a:r>
          </a:p>
        </p:txBody>
      </p:sp>
      <p:sp>
        <p:nvSpPr>
          <p:cNvPr id="3" name="text-2">
            <a:extLst xmlns:a="http://schemas.openxmlformats.org/drawingml/2006/main">
              <a:ext uri="{FF2B5EF4-FFF2-40B4-BE49-F238E27FC236}">
                <a16:creationId xmlns:a16="http://schemas.microsoft.com/office/drawing/2014/main" id="{5A537DA8-3219-44F2-A72A-EAAD092AFB44}"/>
              </a:ext>
            </a:extLst>
          </p:cNvPr>
          <p:cNvSpPr>
            <a:spLocks xmlns:a="http://schemas.openxmlformats.org/drawingml/2006/main" noGrp="1"/>
          </p:cNvSpPr>
          <p:nvPr/>
        </p:nvSpPr>
        <p:spPr>
          <a:xfrm xmlns:a="http://schemas.openxmlformats.org/drawingml/2006/main">
            <a:off x="628650" y="5429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BDE2E0"/>
                </a:solidFill>
                <a:latin typeface="Calibri"/>
                <a:ea typeface="Calibri"/>
                <a:cs typeface="Calibri"/>
              </a:defRPr>
            </a:defPPr>
          </a:lstStyle>
          <a:p xmlns:a="http://schemas.openxmlformats.org/drawingml/2006/main">
            <a:pPr algn="l">
              <a:defRPr sz="1575" b="1">
                <a:solidFill>
                  <a:srgbClr val="BDE2E0"/>
                </a:solidFill>
                <a:latin typeface="Calibri"/>
                <a:ea typeface="Calibri"/>
                <a:cs typeface="Calibri"/>
              </a:defRPr>
            </a:pPr>
            <a:r>
              <a:rPr sz="1575" b="1">
                <a:solidFill>
                  <a:srgbClr val="BDE2E0"/>
                </a:solidFill>
                <a:latin typeface="Calibri"/>
                <a:ea typeface="Calibri"/>
                <a:cs typeface="Calibri"/>
              </a:rPr>
              <a:t>FEW-SHOT LEARNING / BEARING DIAGNOSIS</a:t>
            </a:r>
          </a:p>
        </p:txBody>
      </p:sp>
      <p:sp>
        <p:nvSpPr>
          <p:cNvPr id="4" name="text-3">
            <a:extLst xmlns:a="http://schemas.openxmlformats.org/drawingml/2006/main">
              <a:ext uri="{FF2B5EF4-FFF2-40B4-BE49-F238E27FC236}">
                <a16:creationId xmlns:a16="http://schemas.microsoft.com/office/drawing/2014/main" id="{D788E7E1-1A5C-4CA7-B015-564D5D224CA0}"/>
              </a:ext>
            </a:extLst>
          </p:cNvPr>
          <p:cNvSpPr>
            <a:spLocks xmlns:a="http://schemas.openxmlformats.org/drawingml/2006/main" noGrp="1"/>
          </p:cNvSpPr>
          <p:nvPr/>
        </p:nvSpPr>
        <p:spPr>
          <a:xfrm xmlns:a="http://schemas.openxmlformats.org/drawingml/2006/main">
            <a:off x="609600" y="1162050"/>
            <a:ext cx="109728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4275" b="1">
                <a:solidFill>
                  <a:srgbClr val="FFFFFF"/>
                </a:solidFill>
                <a:latin typeface="Calibri"/>
                <a:ea typeface="Calibri"/>
                <a:cs typeface="Calibri"/>
              </a:defRPr>
            </a:defPPr>
          </a:lstStyle>
          <a:p xmlns:a="http://schemas.openxmlformats.org/drawingml/2006/main">
            <a:pPr algn="l">
              <a:defRPr sz="4275" b="1">
                <a:solidFill>
                  <a:srgbClr val="FFFFFF"/>
                </a:solidFill>
                <a:latin typeface="Calibri"/>
                <a:ea typeface="Calibri"/>
                <a:cs typeface="Calibri"/>
              </a:defRPr>
            </a:pPr>
            <a:r>
              <a:rPr sz="4275" b="1">
                <a:solidFill>
                  <a:srgbClr val="FFFFFF"/>
                </a:solidFill>
                <a:latin typeface="Calibri"/>
                <a:ea typeface="Calibri"/>
                <a:cs typeface="Calibri"/>
              </a:rPr>
              <a:t>Few-Shot Bearing Fault Diagnosis</a:t>
            </a:r>
          </a:p>
          <a:p xmlns:a="http://schemas.openxmlformats.org/drawingml/2006/main">
            <a:pPr algn="l">
              <a:defRPr sz="4275" b="1">
                <a:solidFill>
                  <a:srgbClr val="FFFFFF"/>
                </a:solidFill>
                <a:latin typeface="Calibri"/>
                <a:ea typeface="Calibri"/>
                <a:cs typeface="Calibri"/>
              </a:defRPr>
            </a:pPr>
            <a:r>
              <a:rPr sz="4275" b="1">
                <a:solidFill>
                  <a:srgbClr val="FFFFFF"/>
                </a:solidFill>
                <a:latin typeface="Calibri"/>
                <a:ea typeface="Calibri"/>
                <a:cs typeface="Calibri"/>
              </a:rPr>
              <a:t>Using Model-Agnostic Meta-Learning</a:t>
            </a:r>
          </a:p>
        </p:txBody>
      </p:sp>
      <p:sp>
        <p:nvSpPr>
          <p:cNvPr id="5" name="text-4">
            <a:extLst xmlns:a="http://schemas.openxmlformats.org/drawingml/2006/main">
              <a:ext uri="{FF2B5EF4-FFF2-40B4-BE49-F238E27FC236}">
                <a16:creationId xmlns:a16="http://schemas.microsoft.com/office/drawing/2014/main" id="{92A123CB-51C7-4339-9F29-55CDE4370262}"/>
              </a:ext>
            </a:extLst>
          </p:cNvPr>
          <p:cNvSpPr>
            <a:spLocks xmlns:a="http://schemas.openxmlformats.org/drawingml/2006/main" noGrp="1"/>
          </p:cNvSpPr>
          <p:nvPr/>
        </p:nvSpPr>
        <p:spPr>
          <a:xfrm xmlns:a="http://schemas.openxmlformats.org/drawingml/2006/main">
            <a:off x="628650" y="2990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BDE2E0"/>
                </a:solidFill>
                <a:latin typeface="Calibri"/>
                <a:ea typeface="Calibri"/>
                <a:cs typeface="Calibri"/>
              </a:defRPr>
            </a:defPPr>
          </a:lstStyle>
          <a:p xmlns:a="http://schemas.openxmlformats.org/drawingml/2006/main">
            <a:pPr algn="l">
              <a:defRPr sz="2100" b="0">
                <a:solidFill>
                  <a:srgbClr val="BDE2E0"/>
                </a:solidFill>
                <a:latin typeface="Calibri"/>
                <a:ea typeface="Calibri"/>
                <a:cs typeface="Calibri"/>
              </a:defRPr>
            </a:pPr>
            <a:r>
              <a:rPr sz="2100" b="0">
                <a:solidFill>
                  <a:srgbClr val="BDE2E0"/>
                </a:solidFill>
                <a:latin typeface="Calibri"/>
                <a:ea typeface="Calibri"/>
                <a:cs typeface="Calibri"/>
              </a:rPr>
              <a:t>Replication of Zhang et al. • CWRU dataset • PyTorch</a:t>
            </a:r>
          </a:p>
        </p:txBody>
      </p:sp>
      <p:sp>
        <p:nvSpPr>
          <p:cNvPr id="6" name="text-5">
            <a:extLst xmlns:a="http://schemas.openxmlformats.org/drawingml/2006/main">
              <a:ext uri="{FF2B5EF4-FFF2-40B4-BE49-F238E27FC236}">
                <a16:creationId xmlns:a16="http://schemas.microsoft.com/office/drawing/2014/main" id="{01E5385E-E8BE-428A-BE8D-77ABFF48A7C2}"/>
              </a:ext>
            </a:extLst>
          </p:cNvPr>
          <p:cNvSpPr>
            <a:spLocks xmlns:a="http://schemas.openxmlformats.org/drawingml/2006/main" noGrp="1"/>
          </p:cNvSpPr>
          <p:nvPr/>
        </p:nvSpPr>
        <p:spPr>
          <a:xfrm xmlns:a="http://schemas.openxmlformats.org/drawingml/2006/main">
            <a:off x="628650" y="40862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Calibri"/>
                <a:ea typeface="Calibri"/>
                <a:cs typeface="Calibri"/>
              </a:defRPr>
            </a:defPPr>
          </a:lstStyle>
          <a:p xmlns:a="http://schemas.openxmlformats.org/drawingml/2006/main">
            <a:pPr algn="l">
              <a:defRPr sz="2325" b="1">
                <a:solidFill>
                  <a:srgbClr val="FFFFFF"/>
                </a:solidFill>
                <a:latin typeface="Calibri"/>
                <a:ea typeface="Calibri"/>
                <a:cs typeface="Calibri"/>
              </a:defRPr>
            </a:pPr>
            <a:r>
              <a:rPr sz="2325" b="1">
                <a:solidFill>
                  <a:srgbClr val="FFFFFF"/>
                </a:solidFill>
                <a:latin typeface="Calibri"/>
                <a:ea typeface="Calibri"/>
                <a:cs typeface="Calibri"/>
              </a:rPr>
              <a:t>Samarth  |  SAP ID: 70562200011</a:t>
            </a:r>
          </a:p>
        </p:txBody>
      </p:sp>
      <p:sp>
        <p:nvSpPr>
          <p:cNvPr id="7" name="text-6">
            <a:extLst xmlns:a="http://schemas.openxmlformats.org/drawingml/2006/main">
              <a:ext uri="{FF2B5EF4-FFF2-40B4-BE49-F238E27FC236}">
                <a16:creationId xmlns:a16="http://schemas.microsoft.com/office/drawing/2014/main" id="{232690B2-20AF-487F-A752-9B9F27808105}"/>
              </a:ext>
            </a:extLst>
          </p:cNvPr>
          <p:cNvSpPr>
            <a:spLocks xmlns:a="http://schemas.openxmlformats.org/drawingml/2006/main" noGrp="1"/>
          </p:cNvSpPr>
          <p:nvPr/>
        </p:nvSpPr>
        <p:spPr>
          <a:xfrm xmlns:a="http://schemas.openxmlformats.org/drawingml/2006/main">
            <a:off x="628650" y="45910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FFFFFF"/>
                </a:solidFill>
                <a:latin typeface="Calibri"/>
                <a:ea typeface="Calibri"/>
                <a:cs typeface="Calibri"/>
              </a:defRPr>
            </a:defPPr>
          </a:lstStyle>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B.Tech Artificial Intelligence &amp; Data Science  |  7th Semester</a:t>
            </a:r>
          </a:p>
        </p:txBody>
      </p:sp>
      <p:sp>
        <p:nvSpPr>
          <p:cNvPr id="8" name="text-7">
            <a:extLst xmlns:a="http://schemas.openxmlformats.org/drawingml/2006/main">
              <a:ext uri="{FF2B5EF4-FFF2-40B4-BE49-F238E27FC236}">
                <a16:creationId xmlns:a16="http://schemas.microsoft.com/office/drawing/2014/main" id="{DD33933A-5B5E-4AE0-BD0F-D4370648F9F2}"/>
              </a:ext>
            </a:extLst>
          </p:cNvPr>
          <p:cNvSpPr>
            <a:spLocks xmlns:a="http://schemas.openxmlformats.org/drawingml/2006/main" noGrp="1"/>
          </p:cNvSpPr>
          <p:nvPr/>
        </p:nvSpPr>
        <p:spPr>
          <a:xfrm xmlns:a="http://schemas.openxmlformats.org/drawingml/2006/main">
            <a:off x="628650" y="51339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FFFFFF"/>
                </a:solidFill>
                <a:latin typeface="Calibri"/>
                <a:ea typeface="Calibri"/>
                <a:cs typeface="Calibri"/>
              </a:defRPr>
            </a:defPPr>
          </a:lstStyle>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Professor: Dr. Praveen Singh Thakur</a:t>
            </a:r>
          </a:p>
        </p:txBody>
      </p:sp>
    </p:spTree>
    <p:extLst>
      <p:ext uri="{BB962C8B-B14F-4D97-AF65-F5344CB8AC3E}">
        <p14:creationId xmlns:p14="http://schemas.microsoft.com/office/powerpoint/2010/main" val="741360659"/>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5654194-1E1F-4B8C-B4FB-4EA285816F17}"/>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What is our project about?</a:t>
            </a:r>
          </a:p>
        </p:txBody>
      </p:sp>
      <p:sp>
        <p:nvSpPr>
          <p:cNvPr id="2" name="text-1">
            <a:extLst xmlns:a="http://schemas.openxmlformats.org/drawingml/2006/main">
              <a:ext uri="{FF2B5EF4-FFF2-40B4-BE49-F238E27FC236}">
                <a16:creationId xmlns:a16="http://schemas.microsoft.com/office/drawing/2014/main" id="{61D7029F-F22D-4B23-953B-CB4B25EB7B95}"/>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We use vibration readings to identify faults in bearings.</a:t>
            </a:r>
          </a:p>
        </p:txBody>
      </p:sp>
      <p:sp>
        <p:nvSpPr>
          <p:cNvPr id="3" name="text-2">
            <a:extLst xmlns:a="http://schemas.openxmlformats.org/drawingml/2006/main">
              <a:ext uri="{FF2B5EF4-FFF2-40B4-BE49-F238E27FC236}">
                <a16:creationId xmlns:a16="http://schemas.microsoft.com/office/drawing/2014/main" id="{64B00F4A-C6E8-4427-987F-10057548694D}"/>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Background: original paper, Introduction; CWRU Bearing Data Center</a:t>
            </a:r>
          </a:p>
        </p:txBody>
      </p:sp>
      <p:sp>
        <p:nvSpPr>
          <p:cNvPr id="4" name="text-3">
            <a:extLst xmlns:a="http://schemas.openxmlformats.org/drawingml/2006/main">
              <a:ext uri="{FF2B5EF4-FFF2-40B4-BE49-F238E27FC236}">
                <a16:creationId xmlns:a16="http://schemas.microsoft.com/office/drawing/2014/main" id="{FA134120-6EEA-49D3-BFE4-0F7E2035063B}"/>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02</a:t>
            </a:r>
          </a:p>
        </p:txBody>
      </p:sp>
      <p:sp>
        <p:nvSpPr>
          <p:cNvPr id="5" name="text-4">
            <a:extLst xmlns:a="http://schemas.openxmlformats.org/drawingml/2006/main">
              <a:ext uri="{FF2B5EF4-FFF2-40B4-BE49-F238E27FC236}">
                <a16:creationId xmlns:a16="http://schemas.microsoft.com/office/drawing/2014/main" id="{2C659B00-ACC2-425E-A880-5062B305E72D}"/>
              </a:ext>
            </a:extLst>
          </p:cNvPr>
          <p:cNvSpPr>
            <a:spLocks xmlns:a="http://schemas.openxmlformats.org/drawingml/2006/main" noGrp="1"/>
          </p:cNvSpPr>
          <p:nvPr/>
        </p:nvSpPr>
        <p:spPr>
          <a:xfrm xmlns:a="http://schemas.openxmlformats.org/drawingml/2006/main">
            <a:off x="609600" y="16097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What is a bearing?</a:t>
            </a:r>
          </a:p>
        </p:txBody>
      </p:sp>
      <p:sp>
        <p:nvSpPr>
          <p:cNvPr id="6" name="text-5">
            <a:extLst xmlns:a="http://schemas.openxmlformats.org/drawingml/2006/main">
              <a:ext uri="{FF2B5EF4-FFF2-40B4-BE49-F238E27FC236}">
                <a16:creationId xmlns:a16="http://schemas.microsoft.com/office/drawing/2014/main" id="{93790E3A-D597-490F-BC50-61C8BFDBBC04}"/>
              </a:ext>
            </a:extLst>
          </p:cNvPr>
          <p:cNvSpPr>
            <a:spLocks xmlns:a="http://schemas.openxmlformats.org/drawingml/2006/main" noGrp="1"/>
          </p:cNvSpPr>
          <p:nvPr/>
        </p:nvSpPr>
        <p:spPr>
          <a:xfrm xmlns:a="http://schemas.openxmlformats.org/drawingml/2006/main">
            <a:off x="609600" y="2019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A bearing helps a machine’s shaft rotate smoothly.</a:t>
            </a:r>
          </a:p>
        </p:txBody>
      </p:sp>
      <p:sp>
        <p:nvSpPr>
          <p:cNvPr id="7" name="text-6">
            <a:extLst xmlns:a="http://schemas.openxmlformats.org/drawingml/2006/main">
              <a:ext uri="{FF2B5EF4-FFF2-40B4-BE49-F238E27FC236}">
                <a16:creationId xmlns:a16="http://schemas.microsoft.com/office/drawing/2014/main" id="{758FABF6-E6D5-487C-81BD-1561FF72166A}"/>
              </a:ext>
            </a:extLst>
          </p:cNvPr>
          <p:cNvSpPr>
            <a:spLocks xmlns:a="http://schemas.openxmlformats.org/drawingml/2006/main" noGrp="1"/>
          </p:cNvSpPr>
          <p:nvPr/>
        </p:nvSpPr>
        <p:spPr>
          <a:xfrm xmlns:a="http://schemas.openxmlformats.org/drawingml/2006/main">
            <a:off x="609600" y="2867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What happens when it is damaged?</a:t>
            </a:r>
          </a:p>
        </p:txBody>
      </p:sp>
      <p:sp>
        <p:nvSpPr>
          <p:cNvPr id="8" name="text-7">
            <a:extLst xmlns:a="http://schemas.openxmlformats.org/drawingml/2006/main">
              <a:ext uri="{FF2B5EF4-FFF2-40B4-BE49-F238E27FC236}">
                <a16:creationId xmlns:a16="http://schemas.microsoft.com/office/drawing/2014/main" id="{C4D47149-478B-4C1E-B754-FA0DF41AB4AE}"/>
              </a:ext>
            </a:extLst>
          </p:cNvPr>
          <p:cNvSpPr>
            <a:spLocks xmlns:a="http://schemas.openxmlformats.org/drawingml/2006/main" noGrp="1"/>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Damage to the ball, inner ring or outer ring changes the vibration.</a:t>
            </a:r>
          </a:p>
        </p:txBody>
      </p:sp>
      <p:sp>
        <p:nvSpPr>
          <p:cNvPr id="9" name="text-8">
            <a:extLst xmlns:a="http://schemas.openxmlformats.org/drawingml/2006/main">
              <a:ext uri="{FF2B5EF4-FFF2-40B4-BE49-F238E27FC236}">
                <a16:creationId xmlns:a16="http://schemas.microsoft.com/office/drawing/2014/main" id="{AF805C53-4912-4E5B-90CB-04410734EA32}"/>
              </a:ext>
            </a:extLst>
          </p:cNvPr>
          <p:cNvSpPr>
            <a:spLocks xmlns:a="http://schemas.openxmlformats.org/drawingml/2006/main" noGrp="1"/>
          </p:cNvSpPr>
          <p:nvPr/>
        </p:nvSpPr>
        <p:spPr>
          <a:xfrm xmlns:a="http://schemas.openxmlformats.org/drawingml/2006/main">
            <a:off x="609600" y="41243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What do we want the model to do?</a:t>
            </a:r>
          </a:p>
        </p:txBody>
      </p:sp>
      <p:sp>
        <p:nvSpPr>
          <p:cNvPr id="10" name="text-9">
            <a:extLst xmlns:a="http://schemas.openxmlformats.org/drawingml/2006/main">
              <a:ext uri="{FF2B5EF4-FFF2-40B4-BE49-F238E27FC236}">
                <a16:creationId xmlns:a16="http://schemas.microsoft.com/office/drawing/2014/main" id="{ABE6347D-E55A-4275-8EAA-8DB87C4C7942}"/>
              </a:ext>
            </a:extLst>
          </p:cNvPr>
          <p:cNvSpPr>
            <a:spLocks xmlns:a="http://schemas.openxmlformats.org/drawingml/2006/main" noGrp="1"/>
          </p:cNvSpPr>
          <p:nvPr/>
        </p:nvSpPr>
        <p:spPr>
          <a:xfrm xmlns:a="http://schemas.openxmlformats.org/drawingml/2006/main">
            <a:off x="609600" y="45339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Recognize a new fault after seeing only a few labelled examples.</a:t>
            </a:r>
          </a:p>
        </p:txBody>
      </p:sp>
      <p:sp>
        <p:nvSpPr>
          <p:cNvPr id="11" name="text-10">
            <a:extLst xmlns:a="http://schemas.openxmlformats.org/drawingml/2006/main">
              <a:ext uri="{FF2B5EF4-FFF2-40B4-BE49-F238E27FC236}">
                <a16:creationId xmlns:a16="http://schemas.microsoft.com/office/drawing/2014/main" id="{FE9DA0F3-9372-45B3-908B-A42DF149ADF9}"/>
              </a:ext>
            </a:extLst>
          </p:cNvPr>
          <p:cNvSpPr>
            <a:spLocks xmlns:a="http://schemas.openxmlformats.org/drawingml/2006/main" noGrp="1"/>
          </p:cNvSpPr>
          <p:nvPr/>
        </p:nvSpPr>
        <p:spPr>
          <a:xfrm xmlns:a="http://schemas.openxmlformats.org/drawingml/2006/main">
            <a:off x="628650" y="5715000"/>
            <a:ext cx="1090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87E82"/>
                </a:solidFill>
                <a:latin typeface="Calibri"/>
                <a:ea typeface="Calibri"/>
                <a:cs typeface="Calibri"/>
              </a:defRPr>
            </a:defPPr>
          </a:lstStyle>
          <a:p xmlns:a="http://schemas.openxmlformats.org/drawingml/2006/main">
            <a:pPr algn="l">
              <a:defRPr sz="2025" b="1">
                <a:solidFill>
                  <a:srgbClr val="087E82"/>
                </a:solidFill>
                <a:latin typeface="Calibri"/>
                <a:ea typeface="Calibri"/>
                <a:cs typeface="Calibri"/>
              </a:defRPr>
            </a:pPr>
            <a:r>
              <a:rPr sz="2025" b="1">
                <a:solidFill>
                  <a:srgbClr val="087E82"/>
                </a:solidFill>
                <a:latin typeface="Calibri"/>
                <a:ea typeface="Calibri"/>
                <a:cs typeface="Calibri"/>
              </a:rPr>
              <a:t>Main challenge: we may not have many examples of every possible fault.</a:t>
            </a:r>
          </a:p>
        </p:txBody>
      </p:sp>
    </p:spTree>
    <p:extLst>
      <p:ext uri="{BB962C8B-B14F-4D97-AF65-F5344CB8AC3E}">
        <p14:creationId xmlns:p14="http://schemas.microsoft.com/office/powerpoint/2010/main" val="328648455"/>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942F3EA-DB1F-4169-AAAD-230C4A5FBF63}"/>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The original paper and our project</a:t>
            </a:r>
          </a:p>
        </p:txBody>
      </p:sp>
      <p:sp>
        <p:nvSpPr>
          <p:cNvPr id="2" name="text-1">
            <a:extLst xmlns:a="http://schemas.openxmlformats.org/drawingml/2006/main">
              <a:ext uri="{FF2B5EF4-FFF2-40B4-BE49-F238E27FC236}">
                <a16:creationId xmlns:a16="http://schemas.microsoft.com/office/drawing/2014/main" id="{F4CB8CFC-BF81-4365-8276-7FF8F6EC9969}"/>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Few-Shot Bearing Fault Diagnosis Based on Model-Agnostic Meta-Learning</a:t>
            </a:r>
          </a:p>
        </p:txBody>
      </p:sp>
      <p:sp>
        <p:nvSpPr>
          <p:cNvPr id="3" name="text-2">
            <a:extLst xmlns:a="http://schemas.openxmlformats.org/drawingml/2006/main">
              <a:ext uri="{FF2B5EF4-FFF2-40B4-BE49-F238E27FC236}">
                <a16:creationId xmlns:a16="http://schemas.microsoft.com/office/drawing/2014/main" id="{8A3A15BB-02D0-4ECC-9D5D-E82BE9B9BA7D}"/>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 Zhang, Ye, Wang and Habetler, arXiv:2007.12851v4 (2021)</a:t>
            </a:r>
          </a:p>
        </p:txBody>
      </p:sp>
      <p:sp>
        <p:nvSpPr>
          <p:cNvPr id="4" name="text-3">
            <a:extLst xmlns:a="http://schemas.openxmlformats.org/drawingml/2006/main">
              <a:ext uri="{FF2B5EF4-FFF2-40B4-BE49-F238E27FC236}">
                <a16:creationId xmlns:a16="http://schemas.microsoft.com/office/drawing/2014/main" id="{36020280-438B-4159-93A9-F4D2D6C2653E}"/>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03</a:t>
            </a:r>
          </a:p>
        </p:txBody>
      </p:sp>
      <p:sp>
        <p:nvSpPr>
          <p:cNvPr id="5" name="text-4">
            <a:extLst xmlns:a="http://schemas.openxmlformats.org/drawingml/2006/main">
              <a:ext uri="{FF2B5EF4-FFF2-40B4-BE49-F238E27FC236}">
                <a16:creationId xmlns:a16="http://schemas.microsoft.com/office/drawing/2014/main" id="{ECCF4747-FF3F-435D-B2FF-F6F0FD6A1133}"/>
              </a:ext>
            </a:extLst>
          </p:cNvPr>
          <p:cNvSpPr>
            <a:spLocks xmlns:a="http://schemas.openxmlformats.org/drawingml/2006/main" noGrp="1"/>
          </p:cNvSpPr>
          <p:nvPr/>
        </p:nvSpPr>
        <p:spPr>
          <a:xfrm xmlns:a="http://schemas.openxmlformats.org/drawingml/2006/main">
            <a:off x="609600" y="1590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The paper’s main idea</a:t>
            </a:r>
          </a:p>
        </p:txBody>
      </p:sp>
      <p:sp>
        <p:nvSpPr>
          <p:cNvPr id="6" name="text-5">
            <a:extLst xmlns:a="http://schemas.openxmlformats.org/drawingml/2006/main">
              <a:ext uri="{FF2B5EF4-FFF2-40B4-BE49-F238E27FC236}">
                <a16:creationId xmlns:a16="http://schemas.microsoft.com/office/drawing/2014/main" id="{83E067A3-5AC4-4CFE-97A4-41BE9D5D67C3}"/>
              </a:ext>
            </a:extLst>
          </p:cNvPr>
          <p:cNvSpPr>
            <a:spLocks xmlns:a="http://schemas.openxmlformats.org/drawingml/2006/main" noGrp="1"/>
          </p:cNvSpPr>
          <p:nvPr/>
        </p:nvSpPr>
        <p:spPr>
          <a:xfrm xmlns:a="http://schemas.openxmlformats.org/drawingml/2006/main">
            <a:off x="609600" y="2000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Learn a good starting model that can adjust quickly to a new fault task.</a:t>
            </a:r>
          </a:p>
        </p:txBody>
      </p:sp>
      <p:sp>
        <p:nvSpPr>
          <p:cNvPr id="7" name="text-6">
            <a:extLst xmlns:a="http://schemas.openxmlformats.org/drawingml/2006/main">
              <a:ext uri="{FF2B5EF4-FFF2-40B4-BE49-F238E27FC236}">
                <a16:creationId xmlns:a16="http://schemas.microsoft.com/office/drawing/2014/main" id="{5CB05977-5995-42B5-9F65-1177C2FC5507}"/>
              </a:ext>
            </a:extLst>
          </p:cNvPr>
          <p:cNvSpPr>
            <a:spLocks xmlns:a="http://schemas.openxmlformats.org/drawingml/2006/main" noGrp="1"/>
          </p:cNvSpPr>
          <p:nvPr/>
        </p:nvSpPr>
        <p:spPr>
          <a:xfrm xmlns:a="http://schemas.openxmlformats.org/drawingml/2006/main">
            <a:off x="609600" y="2828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The two main parts</a:t>
            </a:r>
          </a:p>
        </p:txBody>
      </p:sp>
      <p:sp>
        <p:nvSpPr>
          <p:cNvPr id="8" name="text-7">
            <a:extLst xmlns:a="http://schemas.openxmlformats.org/drawingml/2006/main">
              <a:ext uri="{FF2B5EF4-FFF2-40B4-BE49-F238E27FC236}">
                <a16:creationId xmlns:a16="http://schemas.microsoft.com/office/drawing/2014/main" id="{01543D7F-7168-4A72-BB2D-989E5C1E232C}"/>
              </a:ext>
            </a:extLst>
          </p:cNvPr>
          <p:cNvSpPr>
            <a:spLocks xmlns:a="http://schemas.openxmlformats.org/drawingml/2006/main" noGrp="1"/>
          </p:cNvSpPr>
          <p:nvPr/>
        </p:nvSpPr>
        <p:spPr>
          <a:xfrm xmlns:a="http://schemas.openxmlformats.org/drawingml/2006/main">
            <a:off x="609600" y="32385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CNN: find useful signal patterns.   MAML: learn how to adapt quickly.</a:t>
            </a:r>
          </a:p>
        </p:txBody>
      </p:sp>
      <p:sp>
        <p:nvSpPr>
          <p:cNvPr id="9" name="text-8">
            <a:extLst xmlns:a="http://schemas.openxmlformats.org/drawingml/2006/main">
              <a:ext uri="{FF2B5EF4-FFF2-40B4-BE49-F238E27FC236}">
                <a16:creationId xmlns:a16="http://schemas.microsoft.com/office/drawing/2014/main" id="{74FB14AB-7404-4E89-AEFB-0C65655AEF52}"/>
              </a:ext>
            </a:extLst>
          </p:cNvPr>
          <p:cNvSpPr>
            <a:spLocks xmlns:a="http://schemas.openxmlformats.org/drawingml/2006/main" noGrp="1"/>
          </p:cNvSpPr>
          <p:nvPr/>
        </p:nvSpPr>
        <p:spPr>
          <a:xfrm xmlns:a="http://schemas.openxmlformats.org/drawingml/2006/main">
            <a:off x="609600" y="4067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What we implemented</a:t>
            </a:r>
          </a:p>
        </p:txBody>
      </p:sp>
      <p:sp>
        <p:nvSpPr>
          <p:cNvPr id="10" name="text-9">
            <a:extLst xmlns:a="http://schemas.openxmlformats.org/drawingml/2006/main">
              <a:ext uri="{FF2B5EF4-FFF2-40B4-BE49-F238E27FC236}">
                <a16:creationId xmlns:a16="http://schemas.microsoft.com/office/drawing/2014/main" id="{034EB276-D2C5-4DC6-80B7-38FDF329C033}"/>
              </a:ext>
            </a:extLst>
          </p:cNvPr>
          <p:cNvSpPr>
            <a:spLocks xmlns:a="http://schemas.openxmlformats.org/drawingml/2006/main" noGrp="1"/>
          </p:cNvSpPr>
          <p:nvPr/>
        </p:nvSpPr>
        <p:spPr>
          <a:xfrm xmlns:a="http://schemas.openxmlformats.org/drawingml/2006/main">
            <a:off x="609600" y="4476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The core method on CWRU, with 3-way 5-shot and 5-way 5-shot tests.</a:t>
            </a:r>
          </a:p>
        </p:txBody>
      </p:sp>
      <p:sp>
        <p:nvSpPr>
          <p:cNvPr id="11" name="text-10">
            <a:extLst xmlns:a="http://schemas.openxmlformats.org/drawingml/2006/main">
              <a:ext uri="{FF2B5EF4-FFF2-40B4-BE49-F238E27FC236}">
                <a16:creationId xmlns:a16="http://schemas.microsoft.com/office/drawing/2014/main" id="{0231887A-2D8D-4A5C-A6C0-10DB37DEEB8E}"/>
              </a:ext>
            </a:extLst>
          </p:cNvPr>
          <p:cNvSpPr>
            <a:spLocks xmlns:a="http://schemas.openxmlformats.org/drawingml/2006/main" noGrp="1"/>
          </p:cNvSpPr>
          <p:nvPr/>
        </p:nvSpPr>
        <p:spPr>
          <a:xfrm xmlns:a="http://schemas.openxmlformats.org/drawingml/2006/main">
            <a:off x="628650" y="5667375"/>
            <a:ext cx="10906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36777"/>
                </a:solidFill>
                <a:latin typeface="Calibri"/>
                <a:ea typeface="Calibri"/>
                <a:cs typeface="Calibri"/>
              </a:defRPr>
            </a:defPPr>
          </a:lstStyle>
          <a:p xmlns:a="http://schemas.openxmlformats.org/drawingml/2006/main">
            <a:pPr algn="l">
              <a:defRPr sz="1950" b="0">
                <a:solidFill>
                  <a:srgbClr val="536777"/>
                </a:solidFill>
                <a:latin typeface="Calibri"/>
                <a:ea typeface="Calibri"/>
                <a:cs typeface="Calibri"/>
              </a:defRPr>
            </a:pPr>
            <a:r>
              <a:rPr sz="1950" b="0">
                <a:solidFill>
                  <a:srgbClr val="536777"/>
                </a:solidFill>
                <a:latin typeface="Calibri"/>
                <a:ea typeface="Calibri"/>
                <a:cs typeface="Calibri"/>
              </a:rPr>
              <a:t>We selected it because the method is clear and the real dataset is publicly available.</a:t>
            </a:r>
          </a:p>
        </p:txBody>
      </p:sp>
    </p:spTree>
    <p:extLst>
      <p:ext uri="{BB962C8B-B14F-4D97-AF65-F5344CB8AC3E}">
        <p14:creationId xmlns:p14="http://schemas.microsoft.com/office/powerpoint/2010/main" val="1384851417"/>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DA2CB05-D10A-44D3-92D7-F046C7D0585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What does “3-way 5-shot” mean?</a:t>
            </a:r>
          </a:p>
        </p:txBody>
      </p:sp>
      <p:sp>
        <p:nvSpPr>
          <p:cNvPr id="2" name="text-1">
            <a:extLst xmlns:a="http://schemas.openxmlformats.org/drawingml/2006/main">
              <a:ext uri="{FF2B5EF4-FFF2-40B4-BE49-F238E27FC236}">
                <a16:creationId xmlns:a16="http://schemas.microsoft.com/office/drawing/2014/main" id="{D56478EC-533F-47F1-ADB9-B6BBC88F8B25}"/>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A simple example: choose between three fault classes.</a:t>
            </a:r>
          </a:p>
        </p:txBody>
      </p:sp>
      <p:sp>
        <p:nvSpPr>
          <p:cNvPr id="3" name="text-2">
            <a:extLst xmlns:a="http://schemas.openxmlformats.org/drawingml/2006/main">
              <a:ext uri="{FF2B5EF4-FFF2-40B4-BE49-F238E27FC236}">
                <a16:creationId xmlns:a16="http://schemas.microsoft.com/office/drawing/2014/main" id="{151E8D7D-18F1-48E3-A64C-2E8786CFAE2B}"/>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Evidence: notebook TaskSampler and evaluate_model</a:t>
            </a:r>
          </a:p>
        </p:txBody>
      </p:sp>
      <p:sp>
        <p:nvSpPr>
          <p:cNvPr id="4" name="text-3">
            <a:extLst xmlns:a="http://schemas.openxmlformats.org/drawingml/2006/main">
              <a:ext uri="{FF2B5EF4-FFF2-40B4-BE49-F238E27FC236}">
                <a16:creationId xmlns:a16="http://schemas.microsoft.com/office/drawing/2014/main" id="{1389E596-C13C-4CC9-8C9D-DBDE0F80AC20}"/>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04</a:t>
            </a:r>
          </a:p>
        </p:txBody>
      </p:sp>
      <p:graphicFrame>
        <p:nvGraphicFramePr>
          <p:cNvPr id="5" name="">
            <a:extLst xmlns:a="http://schemas.openxmlformats.org/drawingml/2006/main">
              <a:ext uri="{FF2B5EF4-FFF2-40B4-BE49-F238E27FC236}">
                <a16:creationId xmlns:a16="http://schemas.microsoft.com/office/drawing/2014/main" id="{E56838A7-AD3B-4AAE-BA87-37449FD9E44A}"/>
              </a:ext>
            </a:extLst>
          </p:cNvPr>
          <p:cNvGraphicFramePr/>
          <p:nvPr/>
        </p:nvGraphicFramePr>
        <p:xfrm>
          <a:off xmlns:a="http://schemas.openxmlformats.org/drawingml/2006/main" x="609600" y="1619250"/>
          <a:ext xmlns:a="http://schemas.openxmlformats.org/drawingml/2006/main" cx="10972800" cy="2857500"/>
        </p:xfrm>
        <a:graphic xmlns:a="http://schemas.openxmlformats.org/drawingml/2006/main">
          <a:graphicData uri="http://schemas.openxmlformats.org/drawingml/2006/table">
            <a:tbl>
              <a:tblPr/>
              <a:tblGrid>
                <a:gridCol w="4495800"/>
                <a:gridCol w="3238500"/>
                <a:gridCol w="3238500"/>
              </a:tblGrid>
              <a:tr h="714375">
                <a:tc>
                  <a:txBody>
                    <a:bodyPr lIns="133350" tIns="85725" rIns="95250" bIns="85725"/>
                    <a:lstStyle/>
                    <a:p>
                      <a:r>
                        <a:rPr sz="1950" b="1">
                          <a:solidFill>
                            <a:srgbClr val="FFFFFF"/>
                          </a:solidFill>
                          <a:latin typeface="Calibri"/>
                          <a:ea typeface="Calibri"/>
                          <a:cs typeface="Calibri"/>
                        </a:rPr>
                        <a:t>Fault class</a:t>
                      </a:r>
                    </a:p>
                  </a:txBody>
                  <a:tcPr marL="91440" marR="91440" marT="45720" marB="45720" anchor="ctr">
                    <a:lnL w="9525">
                      <a:solidFill>
                        <a:srgbClr val="CDDADD"/>
                      </a:solidFill>
                    </a:lnL>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950" b="1">
                          <a:solidFill>
                            <a:srgbClr val="FFFFFF"/>
                          </a:solidFill>
                          <a:latin typeface="Calibri"/>
                          <a:ea typeface="Calibri"/>
                          <a:cs typeface="Calibri"/>
                        </a:rPr>
                        <a:t>Examples used to learn</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950" b="1">
                          <a:solidFill>
                            <a:srgbClr val="FFFFFF"/>
                          </a:solidFill>
                          <a:latin typeface="Calibri"/>
                          <a:ea typeface="Calibri"/>
                          <a:cs typeface="Calibri"/>
                        </a:rPr>
                        <a:t>Examples to predict</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r>
              <a:tr h="714375">
                <a:tc>
                  <a:txBody>
                    <a:bodyPr lIns="133350" tIns="85725" rIns="95250" bIns="85725"/>
                    <a:lstStyle/>
                    <a:p>
                      <a:r>
                        <a:rPr sz="1950" b="0">
                          <a:solidFill>
                            <a:srgbClr val="20384A"/>
                          </a:solidFill>
                          <a:latin typeface="Calibri"/>
                          <a:ea typeface="Calibri"/>
                          <a:cs typeface="Calibri"/>
                        </a:rPr>
                        <a:t>Outer-ring fault: 0.007 inches</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5 labelled examples</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15 test examples</a:t>
                      </a:r>
                    </a:p>
                  </a:txBody>
                  <a:tcPr marL="91440" marR="91440" marT="45720" marB="45720" anchor="ctr">
                    <a:lnR w="9525">
                      <a:solidFill>
                        <a:srgbClr val="CDDADD"/>
                      </a:solidFill>
                    </a:lnR>
                    <a:lnB w="9525">
                      <a:solidFill>
                        <a:srgbClr val="CDDADD"/>
                      </a:solidFill>
                    </a:lnB>
                    <a:solidFill>
                      <a:srgbClr val="FFFFFF"/>
                    </a:solidFill>
                  </a:tcPr>
                </a:tc>
              </a:tr>
              <a:tr h="714375">
                <a:tc>
                  <a:txBody>
                    <a:bodyPr lIns="133350" tIns="85725" rIns="95250" bIns="85725"/>
                    <a:lstStyle/>
                    <a:p>
                      <a:r>
                        <a:rPr sz="1950" b="0">
                          <a:solidFill>
                            <a:srgbClr val="20384A"/>
                          </a:solidFill>
                          <a:latin typeface="Calibri"/>
                          <a:ea typeface="Calibri"/>
                          <a:cs typeface="Calibri"/>
                        </a:rPr>
                        <a:t>Outer-ring fault: 0.014 inches</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1950" b="0">
                          <a:solidFill>
                            <a:srgbClr val="20384A"/>
                          </a:solidFill>
                          <a:latin typeface="Calibri"/>
                          <a:ea typeface="Calibri"/>
                          <a:cs typeface="Calibri"/>
                        </a:rPr>
                        <a:t>5 labelled examples</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950" b="0">
                          <a:solidFill>
                            <a:srgbClr val="20384A"/>
                          </a:solidFill>
                          <a:latin typeface="Calibri"/>
                          <a:ea typeface="Calibri"/>
                          <a:cs typeface="Calibri"/>
                        </a:rPr>
                        <a:t>15 test examples</a:t>
                      </a:r>
                    </a:p>
                  </a:txBody>
                  <a:tcPr marL="91440" marR="91440" marT="45720" marB="45720" anchor="ctr">
                    <a:lnR w="9525">
                      <a:solidFill>
                        <a:srgbClr val="CDDADD"/>
                      </a:solidFill>
                    </a:lnR>
                    <a:lnB w="9525">
                      <a:solidFill>
                        <a:srgbClr val="CDDADD"/>
                      </a:solidFill>
                    </a:lnB>
                    <a:solidFill>
                      <a:srgbClr val="E9F3F2"/>
                    </a:solidFill>
                  </a:tcPr>
                </a:tc>
              </a:tr>
              <a:tr h="714375">
                <a:tc>
                  <a:txBody>
                    <a:bodyPr lIns="133350" tIns="85725" rIns="95250" bIns="85725"/>
                    <a:lstStyle/>
                    <a:p>
                      <a:r>
                        <a:rPr sz="1950" b="0">
                          <a:solidFill>
                            <a:srgbClr val="20384A"/>
                          </a:solidFill>
                          <a:latin typeface="Calibri"/>
                          <a:ea typeface="Calibri"/>
                          <a:cs typeface="Calibri"/>
                        </a:rPr>
                        <a:t>Outer-ring fault: 0.021 inches</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5 labelled examples</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15 test examples</a:t>
                      </a:r>
                    </a:p>
                  </a:txBody>
                  <a:tcPr marL="91440" marR="91440" marT="45720" marB="45720" anchor="ctr">
                    <a:lnR w="9525">
                      <a:solidFill>
                        <a:srgbClr val="CDDADD"/>
                      </a:solidFill>
                    </a:lnR>
                    <a:lnB w="9525">
                      <a:solidFill>
                        <a:srgbClr val="CDDADD"/>
                      </a:solidFill>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50114861-E34C-4533-93B1-27EC54B41491}"/>
              </a:ext>
            </a:extLst>
          </p:cNvPr>
          <p:cNvSpPr>
            <a:spLocks xmlns:a="http://schemas.openxmlformats.org/drawingml/2006/main" noGrp="1"/>
          </p:cNvSpPr>
          <p:nvPr/>
        </p:nvSpPr>
        <p:spPr>
          <a:xfrm xmlns:a="http://schemas.openxmlformats.org/drawingml/2006/main">
            <a:off x="628650" y="4800600"/>
            <a:ext cx="10906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3-way = choose between 3 classes.     5-shot = learn from 5 examples per class.</a:t>
            </a:r>
          </a:p>
        </p:txBody>
      </p:sp>
      <p:sp>
        <p:nvSpPr>
          <p:cNvPr id="7" name="text-5">
            <a:extLst xmlns:a="http://schemas.openxmlformats.org/drawingml/2006/main">
              <a:ext uri="{FF2B5EF4-FFF2-40B4-BE49-F238E27FC236}">
                <a16:creationId xmlns:a16="http://schemas.microsoft.com/office/drawing/2014/main" id="{3FCF9555-1E1D-4001-9E2C-798974E1EF6B}"/>
              </a:ext>
            </a:extLst>
          </p:cNvPr>
          <p:cNvSpPr>
            <a:spLocks xmlns:a="http://schemas.openxmlformats.org/drawingml/2006/main" noGrp="1"/>
          </p:cNvSpPr>
          <p:nvPr/>
        </p:nvSpPr>
        <p:spPr>
          <a:xfrm xmlns:a="http://schemas.openxmlformats.org/drawingml/2006/main">
            <a:off x="628650" y="5600700"/>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384A"/>
                </a:solidFill>
                <a:latin typeface="Calibri"/>
                <a:ea typeface="Calibri"/>
                <a:cs typeface="Calibri"/>
              </a:defRPr>
            </a:defPPr>
          </a:lstStyle>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Learning examples = support set.   Prediction examples = query set.</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For 5-way 5-shot, we do the same process with five classes.</a:t>
            </a:r>
          </a:p>
        </p:txBody>
      </p:sp>
    </p:spTree>
    <p:extLst>
      <p:ext uri="{BB962C8B-B14F-4D97-AF65-F5344CB8AC3E}">
        <p14:creationId xmlns:p14="http://schemas.microsoft.com/office/powerpoint/2010/main" val="1616271937"/>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151E9C8-C5EC-4A7E-AE25-34D6C0BF5BB9}"/>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The data we used</a:t>
            </a:r>
          </a:p>
        </p:txBody>
      </p:sp>
      <p:sp>
        <p:nvSpPr>
          <p:cNvPr id="2" name="text-1">
            <a:extLst xmlns:a="http://schemas.openxmlformats.org/drawingml/2006/main">
              <a:ext uri="{FF2B5EF4-FFF2-40B4-BE49-F238E27FC236}">
                <a16:creationId xmlns:a16="http://schemas.microsoft.com/office/drawing/2014/main" id="{B780176C-8911-47AF-AEC0-7F98D31C597C}"/>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Case Western Reserve University (CWRU): real laboratory vibration recordings</a:t>
            </a:r>
          </a:p>
        </p:txBody>
      </p:sp>
      <p:sp>
        <p:nvSpPr>
          <p:cNvPr id="3" name="text-2">
            <a:extLst xmlns:a="http://schemas.openxmlformats.org/drawingml/2006/main">
              <a:ext uri="{FF2B5EF4-FFF2-40B4-BE49-F238E27FC236}">
                <a16:creationId xmlns:a16="http://schemas.microsoft.com/office/drawing/2014/main" id="{88BB9813-688E-4C67-8B59-B51F7D622657}"/>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Sources: data/download_manifest.csv; dataset_statistics.csv; raw_signal.png</a:t>
            </a:r>
          </a:p>
        </p:txBody>
      </p:sp>
      <p:sp>
        <p:nvSpPr>
          <p:cNvPr id="4" name="text-3">
            <a:extLst xmlns:a="http://schemas.openxmlformats.org/drawingml/2006/main">
              <a:ext uri="{FF2B5EF4-FFF2-40B4-BE49-F238E27FC236}">
                <a16:creationId xmlns:a16="http://schemas.microsoft.com/office/drawing/2014/main" id="{FA0C1DF1-81E8-4428-A4E3-58A2CB616F80}"/>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DD84D1E6-310F-4CCF-8866-0FBBFC90A199}"/>
              </a:ext>
            </a:extLst>
          </p:cNvPr>
          <p:cNvPicPr>
            <a:picLocks xmlns:a="http://schemas.openxmlformats.org/drawingml/2006/main" noChangeAspect="1"/>
          </p:cNvPicPr>
          <p:nvPr/>
        </p:nvPicPr>
        <p:blipFill>
          <a:blip xmlns:r="http://schemas.openxmlformats.org/officeDocument/2006/relationships" xmlns:a="http://schemas.openxmlformats.org/drawingml/2006/main" r:embed="Rc84b62f05d954467"/>
          <a:stretch xmlns:a="http://schemas.openxmlformats.org/drawingml/2006/main"/>
        </p:blipFill>
        <p:spPr>
          <a:xfrm xmlns:a="http://schemas.openxmlformats.org/drawingml/2006/main">
            <a:off x="514350" y="1714500"/>
            <a:ext cx="6362700" cy="31813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38C3ACEB-1B82-4E10-A577-E8CFCCBD4CDB}"/>
              </a:ext>
            </a:extLst>
          </p:cNvPr>
          <p:cNvSpPr>
            <a:spLocks xmlns:a="http://schemas.openxmlformats.org/drawingml/2006/main" noGrp="1"/>
          </p:cNvSpPr>
          <p:nvPr/>
        </p:nvSpPr>
        <p:spPr>
          <a:xfrm xmlns:a="http://schemas.openxmlformats.org/drawingml/2006/main">
            <a:off x="7334250" y="1743075"/>
            <a:ext cx="4257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087E82"/>
                </a:solidFill>
                <a:latin typeface="Calibri"/>
                <a:ea typeface="Calibri"/>
                <a:cs typeface="Calibri"/>
              </a:defRPr>
            </a:defPPr>
          </a:lstStyle>
          <a:p xmlns:a="http://schemas.openxmlformats.org/drawingml/2006/main">
            <a:pPr algn="l">
              <a:defRPr sz="2625" b="1">
                <a:solidFill>
                  <a:srgbClr val="087E82"/>
                </a:solidFill>
                <a:latin typeface="Calibri"/>
                <a:ea typeface="Calibri"/>
                <a:cs typeface="Calibri"/>
              </a:defRPr>
            </a:pPr>
            <a:r>
              <a:rPr sz="2625" b="1">
                <a:solidFill>
                  <a:srgbClr val="087E82"/>
                </a:solidFill>
                <a:latin typeface="Calibri"/>
                <a:ea typeface="Calibri"/>
                <a:cs typeface="Calibri"/>
              </a:rPr>
              <a:t>30 recordings</a:t>
            </a:r>
          </a:p>
        </p:txBody>
      </p:sp>
      <p:sp>
        <p:nvSpPr>
          <p:cNvPr id="7" name="text-5">
            <a:extLst xmlns:a="http://schemas.openxmlformats.org/drawingml/2006/main">
              <a:ext uri="{FF2B5EF4-FFF2-40B4-BE49-F238E27FC236}">
                <a16:creationId xmlns:a16="http://schemas.microsoft.com/office/drawing/2014/main" id="{B741840B-3794-400E-A30F-4813898F7D1C}"/>
              </a:ext>
            </a:extLst>
          </p:cNvPr>
          <p:cNvSpPr>
            <a:spLocks xmlns:a="http://schemas.openxmlformats.org/drawingml/2006/main" noGrp="1"/>
          </p:cNvSpPr>
          <p:nvPr/>
        </p:nvSpPr>
        <p:spPr>
          <a:xfrm xmlns:a="http://schemas.openxmlformats.org/drawingml/2006/main">
            <a:off x="7334250" y="2371725"/>
            <a:ext cx="4257675" cy="2486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384A"/>
                </a:solidFill>
                <a:latin typeface="Calibri"/>
                <a:ea typeface="Calibri"/>
                <a:cs typeface="Calibri"/>
              </a:defRPr>
            </a:defPPr>
          </a:lstStyle>
          <a:p xmlns:a="http://schemas.openxmlformats.org/drawingml/2006/main">
            <a:pPr algn="l">
              <a:defRPr sz="2100" b="0">
                <a:solidFill>
                  <a:srgbClr val="20384A"/>
                </a:solidFill>
                <a:latin typeface="Calibri"/>
                <a:ea typeface="Calibri"/>
                <a:cs typeface="Calibri"/>
              </a:defRPr>
            </a:pPr>
            <a:r>
              <a:rPr sz="2100" b="0">
                <a:solidFill>
                  <a:srgbClr val="20384A"/>
                </a:solidFill>
                <a:latin typeface="Calibri"/>
                <a:ea typeface="Calibri"/>
                <a:cs typeface="Calibri"/>
              </a:rPr>
              <a:t>10 classes: healthy + 9 faults</a:t>
            </a:r>
          </a:p>
          <a:p xmlns:a="http://schemas.openxmlformats.org/drawingml/2006/main">
            <a:r>
              <a:t/>
            </a:r>
          </a:p>
          <a:p xmlns:a="http://schemas.openxmlformats.org/drawingml/2006/main">
            <a:pPr algn="l">
              <a:defRPr sz="2100" b="0">
                <a:solidFill>
                  <a:srgbClr val="20384A"/>
                </a:solidFill>
                <a:latin typeface="Calibri"/>
                <a:ea typeface="Calibri"/>
                <a:cs typeface="Calibri"/>
              </a:defRPr>
            </a:pPr>
            <a:r>
              <a:rPr sz="2100" b="0">
                <a:solidFill>
                  <a:srgbClr val="20384A"/>
                </a:solidFill>
                <a:latin typeface="Calibri"/>
                <a:ea typeface="Calibri"/>
                <a:cs typeface="Calibri"/>
              </a:rPr>
              <a:t>Faults in the ball, inner ring</a:t>
            </a:r>
          </a:p>
          <a:p xmlns:a="http://schemas.openxmlformats.org/drawingml/2006/main">
            <a:pPr algn="l">
              <a:defRPr sz="2100" b="0">
                <a:solidFill>
                  <a:srgbClr val="20384A"/>
                </a:solidFill>
                <a:latin typeface="Calibri"/>
                <a:ea typeface="Calibri"/>
                <a:cs typeface="Calibri"/>
              </a:defRPr>
            </a:pPr>
            <a:r>
              <a:rPr sz="2100" b="0">
                <a:solidFill>
                  <a:srgbClr val="20384A"/>
                </a:solidFill>
                <a:latin typeface="Calibri"/>
                <a:ea typeface="Calibri"/>
                <a:cs typeface="Calibri"/>
              </a:rPr>
              <a:t>and outer ring</a:t>
            </a:r>
          </a:p>
          <a:p xmlns:a="http://schemas.openxmlformats.org/drawingml/2006/main">
            <a:r>
              <a:t/>
            </a:r>
          </a:p>
          <a:p xmlns:a="http://schemas.openxmlformats.org/drawingml/2006/main">
            <a:pPr algn="l">
              <a:defRPr sz="2100" b="0">
                <a:solidFill>
                  <a:srgbClr val="20384A"/>
                </a:solidFill>
                <a:latin typeface="Calibri"/>
                <a:ea typeface="Calibri"/>
                <a:cs typeface="Calibri"/>
              </a:defRPr>
            </a:pPr>
            <a:r>
              <a:rPr sz="2100" b="0">
                <a:solidFill>
                  <a:srgbClr val="20384A"/>
                </a:solidFill>
                <a:latin typeface="Calibri"/>
                <a:ea typeface="Calibri"/>
                <a:cs typeface="Calibri"/>
              </a:rPr>
              <a:t>Motor loads: 1, 2 and 3 horsepower</a:t>
            </a:r>
          </a:p>
        </p:txBody>
      </p:sp>
      <p:sp>
        <p:nvSpPr>
          <p:cNvPr id="8" name="text-6">
            <a:extLst xmlns:a="http://schemas.openxmlformats.org/drawingml/2006/main">
              <a:ext uri="{FF2B5EF4-FFF2-40B4-BE49-F238E27FC236}">
                <a16:creationId xmlns:a16="http://schemas.microsoft.com/office/drawing/2014/main" id="{91C67187-414C-4070-8E5D-A963201EE35F}"/>
              </a:ext>
            </a:extLst>
          </p:cNvPr>
          <p:cNvSpPr>
            <a:spLocks xmlns:a="http://schemas.openxmlformats.org/drawingml/2006/main" noGrp="1"/>
          </p:cNvSpPr>
          <p:nvPr/>
        </p:nvSpPr>
        <p:spPr>
          <a:xfrm xmlns:a="http://schemas.openxmlformats.org/drawingml/2006/main">
            <a:off x="628650" y="5276850"/>
            <a:ext cx="10906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12D43"/>
                </a:solidFill>
                <a:latin typeface="Calibri"/>
                <a:ea typeface="Calibri"/>
                <a:cs typeface="Calibri"/>
              </a:defRPr>
            </a:defPPr>
          </a:lstStyle>
          <a:p xmlns:a="http://schemas.openxmlformats.org/drawingml/2006/main">
            <a:pPr algn="l">
              <a:defRPr sz="2175" b="1">
                <a:solidFill>
                  <a:srgbClr val="112D43"/>
                </a:solidFill>
                <a:latin typeface="Calibri"/>
                <a:ea typeface="Calibri"/>
                <a:cs typeface="Calibri"/>
              </a:defRPr>
            </a:pPr>
            <a:r>
              <a:rPr sz="2175" b="1">
                <a:solidFill>
                  <a:srgbClr val="112D43"/>
                </a:solidFill>
                <a:latin typeface="Calibri"/>
                <a:ea typeface="Calibri"/>
                <a:cs typeface="Calibri"/>
              </a:rPr>
              <a:t>Two sensors record the vibration: drive end (DE) and fan end (FE).</a:t>
            </a:r>
          </a:p>
        </p:txBody>
      </p:sp>
      <p:sp>
        <p:nvSpPr>
          <p:cNvPr id="9" name="text-7">
            <a:extLst xmlns:a="http://schemas.openxmlformats.org/drawingml/2006/main">
              <a:ext uri="{FF2B5EF4-FFF2-40B4-BE49-F238E27FC236}">
                <a16:creationId xmlns:a16="http://schemas.microsoft.com/office/drawing/2014/main" id="{7F5D0974-A52B-4545-9644-E834976F6F98}"/>
              </a:ext>
            </a:extLst>
          </p:cNvPr>
          <p:cNvSpPr>
            <a:spLocks xmlns:a="http://schemas.openxmlformats.org/drawingml/2006/main" noGrp="1"/>
          </p:cNvSpPr>
          <p:nvPr/>
        </p:nvSpPr>
        <p:spPr>
          <a:xfrm xmlns:a="http://schemas.openxmlformats.org/drawingml/2006/main">
            <a:off x="628650" y="5876925"/>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777"/>
                </a:solidFill>
                <a:latin typeface="Calibri"/>
                <a:ea typeface="Calibri"/>
                <a:cs typeface="Calibri"/>
              </a:defRPr>
            </a:defPPr>
          </a:lstStyle>
          <a:p xmlns:a="http://schemas.openxmlformats.org/drawingml/2006/main">
            <a:pPr algn="l">
              <a:defRPr sz="1800" b="0">
                <a:solidFill>
                  <a:srgbClr val="536777"/>
                </a:solidFill>
                <a:latin typeface="Calibri"/>
                <a:ea typeface="Calibri"/>
                <a:cs typeface="Calibri"/>
              </a:defRPr>
            </a:pPr>
            <a:r>
              <a:rPr sz="1800" b="0">
                <a:solidFill>
                  <a:srgbClr val="536777"/>
                </a:solidFill>
                <a:latin typeface="Calibri"/>
                <a:ea typeface="Calibri"/>
                <a:cs typeface="Calibri"/>
              </a:rPr>
              <a:t>These are measured signals from deliberately damaged laboratory bearings.</a:t>
            </a:r>
          </a:p>
        </p:txBody>
      </p:sp>
    </p:spTree>
    <p:extLst>
      <p:ext uri="{BB962C8B-B14F-4D97-AF65-F5344CB8AC3E}">
        <p14:creationId xmlns:p14="http://schemas.microsoft.com/office/powerpoint/2010/main" val="554792231"/>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96AF695-1707-4792-BE48-2FB2DA54851F}"/>
              </a:ext>
            </a:extLst>
          </p:cNvPr>
          <p:cNvCxnSpPr>
            <a:stCxn xmlns:a="http://schemas.openxmlformats.org/drawingml/2006/main" id="7" idx="3"/>
            <a:endCxn xmlns:a="http://schemas.openxmlformats.org/drawingml/2006/main" id="8" idx="1"/>
          </p:cNvCxnSpPr>
          <p:nvPr/>
        </p:nvCxnSpPr>
        <p:spPr>
          <a:xfrm xmlns:a="http://schemas.openxmlformats.org/drawingml/2006/main">
            <a:off x="8705850" y="2066925"/>
            <a:ext cx="438150"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10" name="">
            <a:extLst xmlns:a="http://schemas.openxmlformats.org/drawingml/2006/main">
              <a:ext uri="{FF2B5EF4-FFF2-40B4-BE49-F238E27FC236}">
                <a16:creationId xmlns:a16="http://schemas.microsoft.com/office/drawing/2014/main" id="{C83FD009-89DE-4C6D-82A8-1A5565D56EA9}"/>
              </a:ext>
            </a:extLst>
          </p:cNvPr>
          <p:cNvCxnSpPr>
            <a:stCxn xmlns:a="http://schemas.openxmlformats.org/drawingml/2006/main" id="6" idx="3"/>
            <a:endCxn xmlns:a="http://schemas.openxmlformats.org/drawingml/2006/main" id="7" idx="1"/>
          </p:cNvCxnSpPr>
          <p:nvPr/>
        </p:nvCxnSpPr>
        <p:spPr>
          <a:xfrm xmlns:a="http://schemas.openxmlformats.org/drawingml/2006/main">
            <a:off x="5867400" y="2066925"/>
            <a:ext cx="438150"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9" name="">
            <a:extLst xmlns:a="http://schemas.openxmlformats.org/drawingml/2006/main">
              <a:ext uri="{FF2B5EF4-FFF2-40B4-BE49-F238E27FC236}">
                <a16:creationId xmlns:a16="http://schemas.microsoft.com/office/drawing/2014/main" id="{4834980F-BB70-40FD-B9ED-E288096E6FEB}"/>
              </a:ext>
            </a:extLst>
          </p:cNvPr>
          <p:cNvCxnSpPr>
            <a:stCxn xmlns:a="http://schemas.openxmlformats.org/drawingml/2006/main" id="5" idx="3"/>
            <a:endCxn xmlns:a="http://schemas.openxmlformats.org/drawingml/2006/main" id="6" idx="1"/>
          </p:cNvCxnSpPr>
          <p:nvPr/>
        </p:nvCxnSpPr>
        <p:spPr>
          <a:xfrm xmlns:a="http://schemas.openxmlformats.org/drawingml/2006/main">
            <a:off x="3028950" y="2066925"/>
            <a:ext cx="438150" cy="0"/>
          </a:xfrm>
          <a:prstGeom xmlns:a="http://schemas.openxmlformats.org/drawingml/2006/main" prst="straightConnector1">
            <a:avLst/>
          </a:prstGeom>
          <a:ln xmlns:a="http://schemas.openxmlformats.org/drawingml/2006/main" w="23813">
            <a:solidFill>
              <a:srgbClr val="087E82"/>
            </a:solidFill>
            <a:tailEnd type="triangle" w="med" len="med"/>
          </a:ln>
        </p:spPr>
      </p:cxnSp>
      <p:sp>
        <p:nvSpPr>
          <p:cNvPr id="14" name="text-0">
            <a:extLst xmlns:a="http://schemas.openxmlformats.org/drawingml/2006/main">
              <a:ext uri="{FF2B5EF4-FFF2-40B4-BE49-F238E27FC236}">
                <a16:creationId xmlns:a16="http://schemas.microsoft.com/office/drawing/2014/main" id="{F4DBCC0E-F0D9-439A-8350-671AC9362D0A}"/>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How a vibration signal becomes a model input</a:t>
            </a:r>
          </a:p>
        </p:txBody>
      </p:sp>
      <p:sp>
        <p:nvSpPr>
          <p:cNvPr id="2" name="text-1">
            <a:extLst xmlns:a="http://schemas.openxmlformats.org/drawingml/2006/main">
              <a:ext uri="{FF2B5EF4-FFF2-40B4-BE49-F238E27FC236}">
                <a16:creationId xmlns:a16="http://schemas.microsoft.com/office/drawing/2014/main" id="{4DD4A734-3615-40F1-940B-715E4D62BAD9}"/>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Each long recording is divided into small, non-overlapping pieces.</a:t>
            </a:r>
          </a:p>
        </p:txBody>
      </p:sp>
      <p:sp>
        <p:nvSpPr>
          <p:cNvPr id="3" name="text-2">
            <a:extLst xmlns:a="http://schemas.openxmlformats.org/drawingml/2006/main">
              <a:ext uri="{FF2B5EF4-FFF2-40B4-BE49-F238E27FC236}">
                <a16:creationId xmlns:a16="http://schemas.microsoft.com/office/drawing/2014/main" id="{4C380E2D-BECE-431D-A838-F2870E0D79F4}"/>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Evidence: notebook load_dataset and normalize_window; example_samples.png</a:t>
            </a:r>
          </a:p>
        </p:txBody>
      </p:sp>
      <p:sp>
        <p:nvSpPr>
          <p:cNvPr id="4" name="text-3">
            <a:extLst xmlns:a="http://schemas.openxmlformats.org/drawingml/2006/main">
              <a:ext uri="{FF2B5EF4-FFF2-40B4-BE49-F238E27FC236}">
                <a16:creationId xmlns:a16="http://schemas.microsoft.com/office/drawing/2014/main" id="{1310A1A7-896C-4E1E-B490-761BA095753F}"/>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06</a:t>
            </a:r>
          </a:p>
        </p:txBody>
      </p:sp>
      <p:sp>
        <p:nvSpPr>
          <p:cNvPr id="5" name="Take 2,048 values&#10;from each sensor">
            <a:extLst xmlns:a="http://schemas.openxmlformats.org/drawingml/2006/main">
              <a:ext uri="{FF2B5EF4-FFF2-40B4-BE49-F238E27FC236}">
                <a16:creationId xmlns:a16="http://schemas.microsoft.com/office/drawing/2014/main" id="{C0936AF8-3622-4414-9DC9-7FAF04D92DEA}"/>
              </a:ext>
            </a:extLst>
          </p:cNvPr>
          <p:cNvSpPr>
            <a:spLocks xmlns:a="http://schemas.openxmlformats.org/drawingml/2006/main" noGrp="1"/>
          </p:cNvSpPr>
          <p:nvPr/>
        </p:nvSpPr>
        <p:spPr>
          <a:xfrm xmlns:a="http://schemas.openxmlformats.org/drawingml/2006/main">
            <a:off x="609600" y="1666875"/>
            <a:ext cx="2419350" cy="80010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Take 2,048 values</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from each sensor</a:t>
            </a:r>
          </a:p>
        </p:txBody>
      </p:sp>
      <p:sp>
        <p:nvSpPr>
          <p:cNvPr id="6" name="Join them into&#10;4,096 values">
            <a:extLst xmlns:a="http://schemas.openxmlformats.org/drawingml/2006/main">
              <a:ext uri="{FF2B5EF4-FFF2-40B4-BE49-F238E27FC236}">
                <a16:creationId xmlns:a16="http://schemas.microsoft.com/office/drawing/2014/main" id="{8EE97453-BF62-4F33-A3E2-CA9DCB500DAE}"/>
              </a:ext>
            </a:extLst>
          </p:cNvPr>
          <p:cNvSpPr>
            <a:spLocks xmlns:a="http://schemas.openxmlformats.org/drawingml/2006/main" noGrp="1"/>
          </p:cNvSpPr>
          <p:nvPr/>
        </p:nvSpPr>
        <p:spPr>
          <a:xfrm xmlns:a="http://schemas.openxmlformats.org/drawingml/2006/main">
            <a:off x="3467100" y="1666875"/>
            <a:ext cx="2400300" cy="80010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Join them into</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4,096 values</a:t>
            </a:r>
          </a:p>
        </p:txBody>
      </p:sp>
      <p:sp>
        <p:nvSpPr>
          <p:cNvPr id="7" name="Put the values&#10;on a similar scale">
            <a:extLst xmlns:a="http://schemas.openxmlformats.org/drawingml/2006/main">
              <a:ext uri="{FF2B5EF4-FFF2-40B4-BE49-F238E27FC236}">
                <a16:creationId xmlns:a16="http://schemas.microsoft.com/office/drawing/2014/main" id="{90AB44D7-7FB2-4286-AAE9-24646AE7E4E8}"/>
              </a:ext>
            </a:extLst>
          </p:cNvPr>
          <p:cNvSpPr>
            <a:spLocks xmlns:a="http://schemas.openxmlformats.org/drawingml/2006/main" noGrp="1"/>
          </p:cNvSpPr>
          <p:nvPr/>
        </p:nvSpPr>
        <p:spPr>
          <a:xfrm xmlns:a="http://schemas.openxmlformats.org/drawingml/2006/main">
            <a:off x="6305550" y="1666875"/>
            <a:ext cx="2400300" cy="80010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Put the values</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on a similar scale</a:t>
            </a:r>
          </a:p>
        </p:txBody>
      </p:sp>
      <p:sp>
        <p:nvSpPr>
          <p:cNvPr id="8" name="Arrange as a&#10;64 × 64 grid">
            <a:extLst xmlns:a="http://schemas.openxmlformats.org/drawingml/2006/main">
              <a:ext uri="{FF2B5EF4-FFF2-40B4-BE49-F238E27FC236}">
                <a16:creationId xmlns:a16="http://schemas.microsoft.com/office/drawing/2014/main" id="{7FE3BF80-FC0D-47D0-9405-799C7FD30C7D}"/>
              </a:ext>
            </a:extLst>
          </p:cNvPr>
          <p:cNvSpPr>
            <a:spLocks xmlns:a="http://schemas.openxmlformats.org/drawingml/2006/main" noGrp="1"/>
          </p:cNvSpPr>
          <p:nvPr/>
        </p:nvSpPr>
        <p:spPr>
          <a:xfrm xmlns:a="http://schemas.openxmlformats.org/drawingml/2006/main">
            <a:off x="9144000" y="1666875"/>
            <a:ext cx="2438400" cy="80010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Arrange as a</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64 × 64 grid</a:t>
            </a:r>
          </a:p>
        </p:txBody>
      </p:sp>
      <p:pic>
        <p:nvPicPr>
          <p:cNvPr id="12" name="">
            <a:extLst xmlns:a="http://schemas.openxmlformats.org/drawingml/2006/main">
              <a:ext uri="{FF2B5EF4-FFF2-40B4-BE49-F238E27FC236}">
                <a16:creationId xmlns:a16="http://schemas.microsoft.com/office/drawing/2014/main" id="{FF9B9C38-FD9F-4394-AC08-A15EE5E4630E}"/>
              </a:ext>
            </a:extLst>
          </p:cNvPr>
          <p:cNvPicPr>
            <a:picLocks xmlns:a="http://schemas.openxmlformats.org/drawingml/2006/main" noChangeAspect="1"/>
          </p:cNvPicPr>
          <p:nvPr/>
        </p:nvPicPr>
        <p:blipFill>
          <a:blip xmlns:r="http://schemas.openxmlformats.org/officeDocument/2006/relationships" xmlns:a="http://schemas.openxmlformats.org/drawingml/2006/main" r:embed="R86e91959a85f4704"/>
          <a:stretch xmlns:a="http://schemas.openxmlformats.org/drawingml/2006/main"/>
        </p:blipFill>
        <p:spPr>
          <a:xfrm xmlns:a="http://schemas.openxmlformats.org/drawingml/2006/main">
            <a:off x="2289810" y="2714625"/>
            <a:ext cx="7612380" cy="3171825"/>
          </a:xfrm>
          <a:prstGeom xmlns:a="http://schemas.openxmlformats.org/drawingml/2006/main" prst="rect">
            <a:avLst/>
          </a:prstGeom>
        </p:spPr>
      </p:pic>
      <p:sp>
        <p:nvSpPr>
          <p:cNvPr id="13" name="text-11">
            <a:extLst xmlns:a="http://schemas.openxmlformats.org/drawingml/2006/main">
              <a:ext uri="{FF2B5EF4-FFF2-40B4-BE49-F238E27FC236}">
                <a16:creationId xmlns:a16="http://schemas.microsoft.com/office/drawing/2014/main" id="{BB8B3A91-542E-4EC3-8667-AF1F43FA39E0}"/>
              </a:ext>
            </a:extLst>
          </p:cNvPr>
          <p:cNvSpPr>
            <a:spLocks xmlns:a="http://schemas.openxmlformats.org/drawingml/2006/main" noGrp="1"/>
          </p:cNvSpPr>
          <p:nvPr/>
        </p:nvSpPr>
        <p:spPr>
          <a:xfrm xmlns:a="http://schemas.openxmlformats.org/drawingml/2006/main">
            <a:off x="628650" y="6010275"/>
            <a:ext cx="1092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87E82"/>
                </a:solidFill>
                <a:latin typeface="Calibri"/>
                <a:ea typeface="Calibri"/>
                <a:cs typeface="Calibri"/>
              </a:defRPr>
            </a:defPPr>
          </a:lstStyle>
          <a:p xmlns:a="http://schemas.openxmlformats.org/drawingml/2006/main">
            <a:pPr algn="l">
              <a:defRPr sz="1725" b="1">
                <a:solidFill>
                  <a:srgbClr val="087E82"/>
                </a:solidFill>
                <a:latin typeface="Calibri"/>
                <a:ea typeface="Calibri"/>
                <a:cs typeface="Calibri"/>
              </a:defRPr>
            </a:pPr>
            <a:r>
              <a:rPr sz="1725" b="1">
                <a:solidFill>
                  <a:srgbClr val="087E82"/>
                </a:solidFill>
                <a:latin typeface="Calibri"/>
                <a:ea typeface="Calibri"/>
                <a:cs typeface="Calibri"/>
              </a:rPr>
              <a:t>The grid is a reshaped signal, not a photograph. We obtained 1,771 such samples.</a:t>
            </a:r>
          </a:p>
        </p:txBody>
      </p:sp>
    </p:spTree>
    <p:extLst>
      <p:ext uri="{BB962C8B-B14F-4D97-AF65-F5344CB8AC3E}">
        <p14:creationId xmlns:p14="http://schemas.microsoft.com/office/powerpoint/2010/main" val="1269438741"/>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BAAA2537-5704-4B3C-A38A-39706B399ED4}"/>
              </a:ext>
            </a:extLst>
          </p:cNvPr>
          <p:cNvCxnSpPr>
            <a:stCxn xmlns:a="http://schemas.openxmlformats.org/drawingml/2006/main" id="16" idx="3"/>
            <a:endCxn xmlns:a="http://schemas.openxmlformats.org/drawingml/2006/main" id="17" idx="1"/>
          </p:cNvCxnSpPr>
          <p:nvPr/>
        </p:nvCxnSpPr>
        <p:spPr>
          <a:xfrm xmlns:a="http://schemas.openxmlformats.org/drawingml/2006/main">
            <a:off x="5667375" y="5091113"/>
            <a:ext cx="828675"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13" name="">
            <a:extLst xmlns:a="http://schemas.openxmlformats.org/drawingml/2006/main">
              <a:ext uri="{FF2B5EF4-FFF2-40B4-BE49-F238E27FC236}">
                <a16:creationId xmlns:a16="http://schemas.microsoft.com/office/drawing/2014/main" id="{4557E16E-F43B-4596-AEBD-1CEC4F71EA1F}"/>
              </a:ext>
            </a:extLst>
          </p:cNvPr>
          <p:cNvCxnSpPr>
            <a:stCxn xmlns:a="http://schemas.openxmlformats.org/drawingml/2006/main" id="8" idx="3"/>
            <a:endCxn xmlns:a="http://schemas.openxmlformats.org/drawingml/2006/main" id="9" idx="1"/>
          </p:cNvCxnSpPr>
          <p:nvPr/>
        </p:nvCxnSpPr>
        <p:spPr>
          <a:xfrm xmlns:a="http://schemas.openxmlformats.org/drawingml/2006/main">
            <a:off x="9363075" y="2138363"/>
            <a:ext cx="123825"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12" name="">
            <a:extLst xmlns:a="http://schemas.openxmlformats.org/drawingml/2006/main">
              <a:ext uri="{FF2B5EF4-FFF2-40B4-BE49-F238E27FC236}">
                <a16:creationId xmlns:a16="http://schemas.microsoft.com/office/drawing/2014/main" id="{281660C3-FA37-4B47-9760-DC5C1729DA6F}"/>
              </a:ext>
            </a:extLst>
          </p:cNvPr>
          <p:cNvCxnSpPr>
            <a:stCxn xmlns:a="http://schemas.openxmlformats.org/drawingml/2006/main" id="7" idx="3"/>
            <a:endCxn xmlns:a="http://schemas.openxmlformats.org/drawingml/2006/main" id="8" idx="1"/>
          </p:cNvCxnSpPr>
          <p:nvPr/>
        </p:nvCxnSpPr>
        <p:spPr>
          <a:xfrm xmlns:a="http://schemas.openxmlformats.org/drawingml/2006/main">
            <a:off x="7143750" y="2138363"/>
            <a:ext cx="123825"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11" name="">
            <a:extLst xmlns:a="http://schemas.openxmlformats.org/drawingml/2006/main">
              <a:ext uri="{FF2B5EF4-FFF2-40B4-BE49-F238E27FC236}">
                <a16:creationId xmlns:a16="http://schemas.microsoft.com/office/drawing/2014/main" id="{C6FC2096-2DAA-474A-B3F2-3BD1D2DFC297}"/>
              </a:ext>
            </a:extLst>
          </p:cNvPr>
          <p:cNvCxnSpPr>
            <a:stCxn xmlns:a="http://schemas.openxmlformats.org/drawingml/2006/main" id="6" idx="3"/>
            <a:endCxn xmlns:a="http://schemas.openxmlformats.org/drawingml/2006/main" id="7" idx="1"/>
          </p:cNvCxnSpPr>
          <p:nvPr/>
        </p:nvCxnSpPr>
        <p:spPr>
          <a:xfrm xmlns:a="http://schemas.openxmlformats.org/drawingml/2006/main">
            <a:off x="4924425" y="2138363"/>
            <a:ext cx="123825"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10" name="">
            <a:extLst xmlns:a="http://schemas.openxmlformats.org/drawingml/2006/main">
              <a:ext uri="{FF2B5EF4-FFF2-40B4-BE49-F238E27FC236}">
                <a16:creationId xmlns:a16="http://schemas.microsoft.com/office/drawing/2014/main" id="{3820B332-00BC-44FA-872C-595A09DE9CD3}"/>
              </a:ext>
            </a:extLst>
          </p:cNvPr>
          <p:cNvCxnSpPr>
            <a:stCxn xmlns:a="http://schemas.openxmlformats.org/drawingml/2006/main" id="5" idx="3"/>
            <a:endCxn xmlns:a="http://schemas.openxmlformats.org/drawingml/2006/main" id="6" idx="1"/>
          </p:cNvCxnSpPr>
          <p:nvPr/>
        </p:nvCxnSpPr>
        <p:spPr>
          <a:xfrm xmlns:a="http://schemas.openxmlformats.org/drawingml/2006/main">
            <a:off x="2705100" y="2138363"/>
            <a:ext cx="123825" cy="0"/>
          </a:xfrm>
          <a:prstGeom xmlns:a="http://schemas.openxmlformats.org/drawingml/2006/main" prst="straightConnector1">
            <a:avLst/>
          </a:prstGeom>
          <a:ln xmlns:a="http://schemas.openxmlformats.org/drawingml/2006/main" w="23813">
            <a:solidFill>
              <a:srgbClr val="087E82"/>
            </a:solidFill>
            <a:tailEnd type="triangle" w="med" len="med"/>
          </a:ln>
        </p:spPr>
      </p:cxnSp>
      <p:sp>
        <p:nvSpPr>
          <p:cNvPr id="20" name="text-0">
            <a:extLst xmlns:a="http://schemas.openxmlformats.org/drawingml/2006/main">
              <a:ext uri="{FF2B5EF4-FFF2-40B4-BE49-F238E27FC236}">
                <a16:creationId xmlns:a16="http://schemas.microsoft.com/office/drawing/2014/main" id="{9F3EC0D0-1E45-4003-A8D8-C5796192DB49}"/>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Model architecture: the CNN</a:t>
            </a:r>
          </a:p>
        </p:txBody>
      </p:sp>
      <p:sp>
        <p:nvSpPr>
          <p:cNvPr id="2" name="text-1">
            <a:extLst xmlns:a="http://schemas.openxmlformats.org/drawingml/2006/main">
              <a:ext uri="{FF2B5EF4-FFF2-40B4-BE49-F238E27FC236}">
                <a16:creationId xmlns:a16="http://schemas.microsoft.com/office/drawing/2014/main" id="{B8387534-3741-4336-8E72-8582271A0C0B}"/>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CNN (convolutional neural network): find signal patterns and predict the fault class.</a:t>
            </a:r>
          </a:p>
        </p:txBody>
      </p:sp>
      <p:sp>
        <p:nvSpPr>
          <p:cNvPr id="3" name="text-2">
            <a:extLst xmlns:a="http://schemas.openxmlformats.org/drawingml/2006/main">
              <a:ext uri="{FF2B5EF4-FFF2-40B4-BE49-F238E27FC236}">
                <a16:creationId xmlns:a16="http://schemas.microsoft.com/office/drawing/2014/main" id="{1371DE20-84CF-4569-8F78-385DBB8479D9}"/>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Sources: original paper, Section III-C; notebook BearingCNN</a:t>
            </a:r>
          </a:p>
        </p:txBody>
      </p:sp>
      <p:sp>
        <p:nvSpPr>
          <p:cNvPr id="4" name="text-3">
            <a:extLst xmlns:a="http://schemas.openxmlformats.org/drawingml/2006/main">
              <a:ext uri="{FF2B5EF4-FFF2-40B4-BE49-F238E27FC236}">
                <a16:creationId xmlns:a16="http://schemas.microsoft.com/office/drawing/2014/main" id="{1DFA7E0A-012A-4606-A7A5-753CFC236F0E}"/>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07</a:t>
            </a:r>
          </a:p>
        </p:txBody>
      </p:sp>
      <p:sp>
        <p:nvSpPr>
          <p:cNvPr id="5" name="Input&#10;1 × 64 × 64">
            <a:extLst xmlns:a="http://schemas.openxmlformats.org/drawingml/2006/main">
              <a:ext uri="{FF2B5EF4-FFF2-40B4-BE49-F238E27FC236}">
                <a16:creationId xmlns:a16="http://schemas.microsoft.com/office/drawing/2014/main" id="{44379D3D-E631-4EC6-82B9-3962D91A08ED}"/>
              </a:ext>
            </a:extLst>
          </p:cNvPr>
          <p:cNvSpPr>
            <a:spLocks xmlns:a="http://schemas.openxmlformats.org/drawingml/2006/main" noGrp="1"/>
          </p:cNvSpPr>
          <p:nvPr/>
        </p:nvSpPr>
        <p:spPr>
          <a:xfrm xmlns:a="http://schemas.openxmlformats.org/drawingml/2006/main">
            <a:off x="609600" y="1685925"/>
            <a:ext cx="2095500" cy="90487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Input</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1 × 64 × 64</a:t>
            </a:r>
          </a:p>
        </p:txBody>
      </p:sp>
      <p:sp>
        <p:nvSpPr>
          <p:cNvPr id="6" name="Block 1&#10;64 × 32 × 32">
            <a:extLst xmlns:a="http://schemas.openxmlformats.org/drawingml/2006/main">
              <a:ext uri="{FF2B5EF4-FFF2-40B4-BE49-F238E27FC236}">
                <a16:creationId xmlns:a16="http://schemas.microsoft.com/office/drawing/2014/main" id="{AEB7226D-E66B-400A-A835-7ACFFFDBAD3F}"/>
              </a:ext>
            </a:extLst>
          </p:cNvPr>
          <p:cNvSpPr>
            <a:spLocks xmlns:a="http://schemas.openxmlformats.org/drawingml/2006/main" noGrp="1"/>
          </p:cNvSpPr>
          <p:nvPr/>
        </p:nvSpPr>
        <p:spPr>
          <a:xfrm xmlns:a="http://schemas.openxmlformats.org/drawingml/2006/main">
            <a:off x="2828925" y="1685925"/>
            <a:ext cx="2095500" cy="90487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Block 1</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64 × 32 × 32</a:t>
            </a:r>
          </a:p>
        </p:txBody>
      </p:sp>
      <p:sp>
        <p:nvSpPr>
          <p:cNvPr id="7" name="Block 2&#10;64 × 16 × 16">
            <a:extLst xmlns:a="http://schemas.openxmlformats.org/drawingml/2006/main">
              <a:ext uri="{FF2B5EF4-FFF2-40B4-BE49-F238E27FC236}">
                <a16:creationId xmlns:a16="http://schemas.microsoft.com/office/drawing/2014/main" id="{275C5C90-A564-42AE-AC15-4F95120C5A7F}"/>
              </a:ext>
            </a:extLst>
          </p:cNvPr>
          <p:cNvSpPr>
            <a:spLocks xmlns:a="http://schemas.openxmlformats.org/drawingml/2006/main" noGrp="1"/>
          </p:cNvSpPr>
          <p:nvPr/>
        </p:nvSpPr>
        <p:spPr>
          <a:xfrm xmlns:a="http://schemas.openxmlformats.org/drawingml/2006/main">
            <a:off x="5048250" y="1685925"/>
            <a:ext cx="2095500" cy="90487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Block 2</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64 × 16 × 16</a:t>
            </a:r>
          </a:p>
        </p:txBody>
      </p:sp>
      <p:sp>
        <p:nvSpPr>
          <p:cNvPr id="8" name="Block 3&#10;64 × 8 × 8">
            <a:extLst xmlns:a="http://schemas.openxmlformats.org/drawingml/2006/main">
              <a:ext uri="{FF2B5EF4-FFF2-40B4-BE49-F238E27FC236}">
                <a16:creationId xmlns:a16="http://schemas.microsoft.com/office/drawing/2014/main" id="{727881A1-0936-4C51-AEE7-C70586299435}"/>
              </a:ext>
            </a:extLst>
          </p:cNvPr>
          <p:cNvSpPr>
            <a:spLocks xmlns:a="http://schemas.openxmlformats.org/drawingml/2006/main" noGrp="1"/>
          </p:cNvSpPr>
          <p:nvPr/>
        </p:nvSpPr>
        <p:spPr>
          <a:xfrm xmlns:a="http://schemas.openxmlformats.org/drawingml/2006/main">
            <a:off x="7267575" y="1685925"/>
            <a:ext cx="2095500" cy="90487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Block 3</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64 × 8 × 8</a:t>
            </a:r>
          </a:p>
        </p:txBody>
      </p:sp>
      <p:sp>
        <p:nvSpPr>
          <p:cNvPr id="9" name="Block 4&#10;64 × 4 × 4">
            <a:extLst xmlns:a="http://schemas.openxmlformats.org/drawingml/2006/main">
              <a:ext uri="{FF2B5EF4-FFF2-40B4-BE49-F238E27FC236}">
                <a16:creationId xmlns:a16="http://schemas.microsoft.com/office/drawing/2014/main" id="{414EBD1F-282E-45C8-AD3F-0C87BBFF358C}"/>
              </a:ext>
            </a:extLst>
          </p:cNvPr>
          <p:cNvSpPr>
            <a:spLocks xmlns:a="http://schemas.openxmlformats.org/drawingml/2006/main" noGrp="1"/>
          </p:cNvSpPr>
          <p:nvPr/>
        </p:nvSpPr>
        <p:spPr>
          <a:xfrm xmlns:a="http://schemas.openxmlformats.org/drawingml/2006/main">
            <a:off x="9486900" y="1685925"/>
            <a:ext cx="2095500" cy="90487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75" b="1">
                <a:solidFill>
                  <a:srgbClr val="112D43"/>
                </a:solidFill>
                <a:latin typeface="Calibri"/>
                <a:ea typeface="Calibri"/>
                <a:cs typeface="Calibri"/>
              </a:defRPr>
            </a:defPPr>
          </a:lstStyle>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Block 4</a:t>
            </a:r>
          </a:p>
          <a:p xmlns:a="http://schemas.openxmlformats.org/drawingml/2006/main">
            <a:pPr algn="ctr">
              <a:defRPr sz="1875" b="1">
                <a:solidFill>
                  <a:srgbClr val="112D43"/>
                </a:solidFill>
                <a:latin typeface="Calibri"/>
                <a:ea typeface="Calibri"/>
                <a:cs typeface="Calibri"/>
              </a:defRPr>
            </a:pPr>
            <a:r>
              <a:rPr sz="1875" b="1">
                <a:solidFill>
                  <a:srgbClr val="112D43"/>
                </a:solidFill>
                <a:latin typeface="Calibri"/>
                <a:ea typeface="Calibri"/>
                <a:cs typeface="Calibri"/>
              </a:rPr>
              <a:t>64 × 4 × 4</a:t>
            </a:r>
          </a:p>
        </p:txBody>
      </p:sp>
      <p:sp>
        <p:nvSpPr>
          <p:cNvPr id="14" name="text-13">
            <a:extLst xmlns:a="http://schemas.openxmlformats.org/drawingml/2006/main">
              <a:ext uri="{FF2B5EF4-FFF2-40B4-BE49-F238E27FC236}">
                <a16:creationId xmlns:a16="http://schemas.microsoft.com/office/drawing/2014/main" id="{178ACFC1-0C08-451D-9F0F-792A9440E21B}"/>
              </a:ext>
            </a:extLst>
          </p:cNvPr>
          <p:cNvSpPr>
            <a:spLocks xmlns:a="http://schemas.openxmlformats.org/drawingml/2006/main" noGrp="1"/>
          </p:cNvSpPr>
          <p:nvPr/>
        </p:nvSpPr>
        <p:spPr>
          <a:xfrm xmlns:a="http://schemas.openxmlformats.org/drawingml/2006/main">
            <a:off x="628650" y="2990850"/>
            <a:ext cx="10887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12D43"/>
                </a:solidFill>
                <a:latin typeface="Calibri"/>
                <a:ea typeface="Calibri"/>
                <a:cs typeface="Calibri"/>
              </a:defRPr>
            </a:defPPr>
          </a:lstStyle>
          <a:p xmlns:a="http://schemas.openxmlformats.org/drawingml/2006/main">
            <a:pPr algn="l">
              <a:defRPr sz="2325" b="1">
                <a:solidFill>
                  <a:srgbClr val="112D43"/>
                </a:solidFill>
                <a:latin typeface="Calibri"/>
                <a:ea typeface="Calibri"/>
                <a:cs typeface="Calibri"/>
              </a:defRPr>
            </a:pPr>
            <a:r>
              <a:rPr sz="2325" b="1">
                <a:solidFill>
                  <a:srgbClr val="112D43"/>
                </a:solidFill>
                <a:latin typeface="Calibri"/>
                <a:ea typeface="Calibri"/>
                <a:cs typeface="Calibri"/>
              </a:rPr>
              <a:t>Each block: convolution → BatchNorm → ReLU → max pooling</a:t>
            </a:r>
          </a:p>
        </p:txBody>
      </p:sp>
      <p:sp>
        <p:nvSpPr>
          <p:cNvPr id="15" name="text-14">
            <a:extLst xmlns:a="http://schemas.openxmlformats.org/drawingml/2006/main">
              <a:ext uri="{FF2B5EF4-FFF2-40B4-BE49-F238E27FC236}">
                <a16:creationId xmlns:a16="http://schemas.microsoft.com/office/drawing/2014/main" id="{D298B1E0-B394-4A99-9A82-047B678001BA}"/>
              </a:ext>
            </a:extLst>
          </p:cNvPr>
          <p:cNvSpPr>
            <a:spLocks xmlns:a="http://schemas.openxmlformats.org/drawingml/2006/main" noGrp="1"/>
          </p:cNvSpPr>
          <p:nvPr/>
        </p:nvSpPr>
        <p:spPr>
          <a:xfrm xmlns:a="http://schemas.openxmlformats.org/drawingml/2006/main">
            <a:off x="628650" y="3552825"/>
            <a:ext cx="108870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384A"/>
                </a:solidFill>
                <a:latin typeface="Calibri"/>
                <a:ea typeface="Calibri"/>
                <a:cs typeface="Calibri"/>
              </a:defRPr>
            </a:defPPr>
          </a:lstStyle>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Convolution finds local patterns. Pooling makes the grid smaller.</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BatchNorm keeps feature scales stable.</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ReLU keeps positive values and replaces negative values with zero.</a:t>
            </a:r>
          </a:p>
        </p:txBody>
      </p:sp>
      <p:sp>
        <p:nvSpPr>
          <p:cNvPr id="16" name="Arrange 1,024 values in a row">
            <a:extLst xmlns:a="http://schemas.openxmlformats.org/drawingml/2006/main">
              <a:ext uri="{FF2B5EF4-FFF2-40B4-BE49-F238E27FC236}">
                <a16:creationId xmlns:a16="http://schemas.microsoft.com/office/drawing/2014/main" id="{182550E0-4DBA-4388-848F-D14D0FB1C643}"/>
              </a:ext>
            </a:extLst>
          </p:cNvPr>
          <p:cNvSpPr>
            <a:spLocks xmlns:a="http://schemas.openxmlformats.org/drawingml/2006/main" noGrp="1"/>
          </p:cNvSpPr>
          <p:nvPr/>
        </p:nvSpPr>
        <p:spPr>
          <a:xfrm xmlns:a="http://schemas.openxmlformats.org/drawingml/2006/main">
            <a:off x="1371600" y="4743450"/>
            <a:ext cx="4295775" cy="69532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950" b="1">
                <a:solidFill>
                  <a:srgbClr val="112D43"/>
                </a:solidFill>
                <a:latin typeface="Calibri"/>
                <a:ea typeface="Calibri"/>
                <a:cs typeface="Calibri"/>
              </a:defRPr>
            </a:defPPr>
          </a:lstStyle>
          <a:p xmlns:a="http://schemas.openxmlformats.org/drawingml/2006/main">
            <a:pPr algn="ctr">
              <a:defRPr sz="1950" b="1">
                <a:solidFill>
                  <a:srgbClr val="112D43"/>
                </a:solidFill>
                <a:latin typeface="Calibri"/>
                <a:ea typeface="Calibri"/>
                <a:cs typeface="Calibri"/>
              </a:defRPr>
            </a:pPr>
            <a:r>
              <a:rPr sz="1950" b="1">
                <a:solidFill>
                  <a:srgbClr val="112D43"/>
                </a:solidFill>
                <a:latin typeface="Calibri"/>
                <a:ea typeface="Calibri"/>
                <a:cs typeface="Calibri"/>
              </a:rPr>
              <a:t>Arrange 1,024 values in a row</a:t>
            </a:r>
          </a:p>
        </p:txBody>
      </p:sp>
      <p:sp>
        <p:nvSpPr>
          <p:cNvPr id="17" name="Final layer: 3 or 5 class scores">
            <a:extLst xmlns:a="http://schemas.openxmlformats.org/drawingml/2006/main">
              <a:ext uri="{FF2B5EF4-FFF2-40B4-BE49-F238E27FC236}">
                <a16:creationId xmlns:a16="http://schemas.microsoft.com/office/drawing/2014/main" id="{501DBB2E-5FF7-469E-931A-DFFBDD7D37CB}"/>
              </a:ext>
            </a:extLst>
          </p:cNvPr>
          <p:cNvSpPr>
            <a:spLocks xmlns:a="http://schemas.openxmlformats.org/drawingml/2006/main" noGrp="1"/>
          </p:cNvSpPr>
          <p:nvPr/>
        </p:nvSpPr>
        <p:spPr>
          <a:xfrm xmlns:a="http://schemas.openxmlformats.org/drawingml/2006/main">
            <a:off x="6496050" y="4743450"/>
            <a:ext cx="4591050" cy="695325"/>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950" b="1">
                <a:solidFill>
                  <a:srgbClr val="112D43"/>
                </a:solidFill>
                <a:latin typeface="Calibri"/>
                <a:ea typeface="Calibri"/>
                <a:cs typeface="Calibri"/>
              </a:defRPr>
            </a:defPPr>
          </a:lstStyle>
          <a:p xmlns:a="http://schemas.openxmlformats.org/drawingml/2006/main">
            <a:pPr algn="ctr">
              <a:defRPr sz="1950" b="1">
                <a:solidFill>
                  <a:srgbClr val="112D43"/>
                </a:solidFill>
                <a:latin typeface="Calibri"/>
                <a:ea typeface="Calibri"/>
                <a:cs typeface="Calibri"/>
              </a:defRPr>
            </a:pPr>
            <a:r>
              <a:rPr sz="1950" b="1">
                <a:solidFill>
                  <a:srgbClr val="112D43"/>
                </a:solidFill>
                <a:latin typeface="Calibri"/>
                <a:ea typeface="Calibri"/>
                <a:cs typeface="Calibri"/>
              </a:rPr>
              <a:t>Final layer: 3 or 5 class scores</a:t>
            </a:r>
          </a:p>
        </p:txBody>
      </p:sp>
      <p:sp>
        <p:nvSpPr>
          <p:cNvPr id="19" name="text-18">
            <a:extLst xmlns:a="http://schemas.openxmlformats.org/drawingml/2006/main">
              <a:ext uri="{FF2B5EF4-FFF2-40B4-BE49-F238E27FC236}">
                <a16:creationId xmlns:a16="http://schemas.microsoft.com/office/drawing/2014/main" id="{D3A44545-263C-445A-9651-7F731AB90F44}"/>
              </a:ext>
            </a:extLst>
          </p:cNvPr>
          <p:cNvSpPr>
            <a:spLocks xmlns:a="http://schemas.openxmlformats.org/drawingml/2006/main" noGrp="1"/>
          </p:cNvSpPr>
          <p:nvPr/>
        </p:nvSpPr>
        <p:spPr>
          <a:xfrm xmlns:a="http://schemas.openxmlformats.org/drawingml/2006/main">
            <a:off x="628650" y="576262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36777"/>
                </a:solidFill>
                <a:latin typeface="Calibri"/>
                <a:ea typeface="Calibri"/>
                <a:cs typeface="Calibri"/>
              </a:defRPr>
            </a:defPPr>
          </a:lstStyle>
          <a:p xmlns:a="http://schemas.openxmlformats.org/drawingml/2006/main">
            <a:pPr algn="l">
              <a:defRPr sz="1950" b="0">
                <a:solidFill>
                  <a:srgbClr val="536777"/>
                </a:solidFill>
                <a:latin typeface="Calibri"/>
                <a:ea typeface="Calibri"/>
                <a:cs typeface="Calibri"/>
              </a:defRPr>
            </a:pPr>
            <a:r>
              <a:rPr sz="1950" b="0">
                <a:solidFill>
                  <a:srgbClr val="536777"/>
                </a:solidFill>
                <a:latin typeface="Calibri"/>
                <a:ea typeface="Calibri"/>
                <a:cs typeface="Calibri"/>
              </a:rPr>
              <a:t>Each convolution uses 64 filters of size 3 × 3. Each pooling step halves the grid.</a:t>
            </a:r>
          </a:p>
        </p:txBody>
      </p:sp>
    </p:spTree>
    <p:extLst>
      <p:ext uri="{BB962C8B-B14F-4D97-AF65-F5344CB8AC3E}">
        <p14:creationId xmlns:p14="http://schemas.microsoft.com/office/powerpoint/2010/main" val="1821417995"/>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71FEF27-CEC5-4678-8849-A178B745CF51}"/>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How MAML teaches the model to adapt</a:t>
            </a:r>
          </a:p>
        </p:txBody>
      </p:sp>
      <p:sp>
        <p:nvSpPr>
          <p:cNvPr id="2" name="text-1">
            <a:extLst xmlns:a="http://schemas.openxmlformats.org/drawingml/2006/main">
              <a:ext uri="{FF2B5EF4-FFF2-40B4-BE49-F238E27FC236}">
                <a16:creationId xmlns:a16="http://schemas.microsoft.com/office/drawing/2014/main" id="{413974A1-9881-4CB2-B34F-FEBDA7A27C14}"/>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MAML = Model-Agnostic Meta-Learning</a:t>
            </a:r>
          </a:p>
        </p:txBody>
      </p:sp>
      <p:sp>
        <p:nvSpPr>
          <p:cNvPr id="3" name="text-2">
            <a:extLst xmlns:a="http://schemas.openxmlformats.org/drawingml/2006/main">
              <a:ext uri="{FF2B5EF4-FFF2-40B4-BE49-F238E27FC236}">
                <a16:creationId xmlns:a16="http://schemas.microsoft.com/office/drawing/2014/main" id="{3B20330D-C6AD-4655-91A4-E8D2B257892D}"/>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Sources: Finn et al. (2017); original bearing paper; notebook MAML</a:t>
            </a:r>
          </a:p>
        </p:txBody>
      </p:sp>
      <p:sp>
        <p:nvSpPr>
          <p:cNvPr id="4" name="text-3">
            <a:extLst xmlns:a="http://schemas.openxmlformats.org/drawingml/2006/main">
              <a:ext uri="{FF2B5EF4-FFF2-40B4-BE49-F238E27FC236}">
                <a16:creationId xmlns:a16="http://schemas.microsoft.com/office/drawing/2014/main" id="{A0B1C0E2-2B10-4488-A285-C5E0215CE422}"/>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08</a:t>
            </a:r>
          </a:p>
        </p:txBody>
      </p:sp>
      <p:sp>
        <p:nvSpPr>
          <p:cNvPr id="5" name="text-4">
            <a:extLst xmlns:a="http://schemas.openxmlformats.org/drawingml/2006/main">
              <a:ext uri="{FF2B5EF4-FFF2-40B4-BE49-F238E27FC236}">
                <a16:creationId xmlns:a16="http://schemas.microsoft.com/office/drawing/2014/main" id="{82A11E39-0E2B-49BD-BE61-A325FBF750BA}"/>
              </a:ext>
            </a:extLst>
          </p:cNvPr>
          <p:cNvSpPr>
            <a:spLocks xmlns:a="http://schemas.openxmlformats.org/drawingml/2006/main" noGrp="1"/>
          </p:cNvSpPr>
          <p:nvPr/>
        </p:nvSpPr>
        <p:spPr>
          <a:xfrm xmlns:a="http://schemas.openxmlformats.org/drawingml/2006/main">
            <a:off x="609600" y="1600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1. Learn from a few labelled examples</a:t>
            </a:r>
          </a:p>
        </p:txBody>
      </p:sp>
      <p:sp>
        <p:nvSpPr>
          <p:cNvPr id="6" name="text-5">
            <a:extLst xmlns:a="http://schemas.openxmlformats.org/drawingml/2006/main">
              <a:ext uri="{FF2B5EF4-FFF2-40B4-BE49-F238E27FC236}">
                <a16:creationId xmlns:a16="http://schemas.microsoft.com/office/drawing/2014/main" id="{E3BAEB19-5098-4D3E-B9D8-4CD41B873514}"/>
              </a:ext>
            </a:extLst>
          </p:cNvPr>
          <p:cNvSpPr>
            <a:spLocks xmlns:a="http://schemas.openxmlformats.org/drawingml/2006/main" noGrp="1"/>
          </p:cNvSpPr>
          <p:nvPr/>
        </p:nvSpPr>
        <p:spPr>
          <a:xfrm xmlns:a="http://schemas.openxmlformats.org/drawingml/2006/main">
            <a:off x="609600" y="20097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Take the starting CNN and adjust its weights using the support set.</a:t>
            </a:r>
          </a:p>
        </p:txBody>
      </p:sp>
      <p:sp>
        <p:nvSpPr>
          <p:cNvPr id="7" name="text-6">
            <a:extLst xmlns:a="http://schemas.openxmlformats.org/drawingml/2006/main">
              <a:ext uri="{FF2B5EF4-FFF2-40B4-BE49-F238E27FC236}">
                <a16:creationId xmlns:a16="http://schemas.microsoft.com/office/drawing/2014/main" id="{CABB299A-2930-44B2-916C-A3D826E42E56}"/>
              </a:ext>
            </a:extLst>
          </p:cNvPr>
          <p:cNvSpPr>
            <a:spLocks xmlns:a="http://schemas.openxmlformats.org/drawingml/2006/main" noGrp="1"/>
          </p:cNvSpPr>
          <p:nvPr/>
        </p:nvSpPr>
        <p:spPr>
          <a:xfrm xmlns:a="http://schemas.openxmlformats.org/drawingml/2006/main">
            <a:off x="609600" y="2847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2. Check it on different examples</a:t>
            </a:r>
          </a:p>
        </p:txBody>
      </p:sp>
      <p:sp>
        <p:nvSpPr>
          <p:cNvPr id="8" name="text-7">
            <a:extLst xmlns:a="http://schemas.openxmlformats.org/drawingml/2006/main">
              <a:ext uri="{FF2B5EF4-FFF2-40B4-BE49-F238E27FC236}">
                <a16:creationId xmlns:a16="http://schemas.microsoft.com/office/drawing/2014/main" id="{800F8155-FEC2-4199-9EB8-FB0E8AD8AAB3}"/>
              </a:ext>
            </a:extLst>
          </p:cNvPr>
          <p:cNvSpPr>
            <a:spLocks xmlns:a="http://schemas.openxmlformats.org/drawingml/2006/main" noGrp="1"/>
          </p:cNvSpPr>
          <p:nvPr/>
        </p:nvSpPr>
        <p:spPr>
          <a:xfrm xmlns:a="http://schemas.openxmlformats.org/drawingml/2006/main">
            <a:off x="609600" y="32575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Use the adjusted CNN to predict the query set and calculate its errors.</a:t>
            </a:r>
          </a:p>
        </p:txBody>
      </p:sp>
      <p:sp>
        <p:nvSpPr>
          <p:cNvPr id="9" name="text-8">
            <a:extLst xmlns:a="http://schemas.openxmlformats.org/drawingml/2006/main">
              <a:ext uri="{FF2B5EF4-FFF2-40B4-BE49-F238E27FC236}">
                <a16:creationId xmlns:a16="http://schemas.microsoft.com/office/drawing/2014/main" id="{ADD40147-D669-469A-9D37-F401B9CD29AD}"/>
              </a:ext>
            </a:extLst>
          </p:cNvPr>
          <p:cNvSpPr>
            <a:spLocks xmlns:a="http://schemas.openxmlformats.org/drawingml/2006/main" noGrp="1"/>
          </p:cNvSpPr>
          <p:nvPr/>
        </p:nvSpPr>
        <p:spPr>
          <a:xfrm xmlns:a="http://schemas.openxmlformats.org/drawingml/2006/main">
            <a:off x="609600" y="4095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3. Improve the starting CNN</a:t>
            </a:r>
          </a:p>
        </p:txBody>
      </p:sp>
      <p:sp>
        <p:nvSpPr>
          <p:cNvPr id="10" name="text-9">
            <a:extLst xmlns:a="http://schemas.openxmlformats.org/drawingml/2006/main">
              <a:ext uri="{FF2B5EF4-FFF2-40B4-BE49-F238E27FC236}">
                <a16:creationId xmlns:a16="http://schemas.microsoft.com/office/drawing/2014/main" id="{0CB369B5-0539-4EEE-9E13-4527B25D5CD1}"/>
              </a:ext>
            </a:extLst>
          </p:cNvPr>
          <p:cNvSpPr>
            <a:spLocks xmlns:a="http://schemas.openxmlformats.org/drawingml/2006/main" noGrp="1"/>
          </p:cNvSpPr>
          <p:nvPr/>
        </p:nvSpPr>
        <p:spPr>
          <a:xfrm xmlns:a="http://schemas.openxmlformats.org/drawingml/2006/main">
            <a:off x="609600" y="45053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Use those errors to improve the starting weights, then try another task.</a:t>
            </a:r>
          </a:p>
        </p:txBody>
      </p:sp>
      <p:sp>
        <p:nvSpPr>
          <p:cNvPr id="11" name="text-10">
            <a:extLst xmlns:a="http://schemas.openxmlformats.org/drawingml/2006/main">
              <a:ext uri="{FF2B5EF4-FFF2-40B4-BE49-F238E27FC236}">
                <a16:creationId xmlns:a16="http://schemas.microsoft.com/office/drawing/2014/main" id="{B5DC4F4D-BEC5-43DF-9351-33D058A77BC3}"/>
              </a:ext>
            </a:extLst>
          </p:cNvPr>
          <p:cNvSpPr>
            <a:spLocks xmlns:a="http://schemas.openxmlformats.org/drawingml/2006/main" noGrp="1"/>
          </p:cNvSpPr>
          <p:nvPr/>
        </p:nvSpPr>
        <p:spPr>
          <a:xfrm xmlns:a="http://schemas.openxmlformats.org/drawingml/2006/main">
            <a:off x="628650" y="566737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87E82"/>
                </a:solidFill>
                <a:latin typeface="Calibri"/>
                <a:ea typeface="Calibri"/>
                <a:cs typeface="Calibri"/>
              </a:defRPr>
            </a:defPPr>
          </a:lstStyle>
          <a:p xmlns:a="http://schemas.openxmlformats.org/drawingml/2006/main">
            <a:pPr algn="l">
              <a:defRPr sz="2025" b="1">
                <a:solidFill>
                  <a:srgbClr val="087E82"/>
                </a:solidFill>
                <a:latin typeface="Calibri"/>
                <a:ea typeface="Calibri"/>
                <a:cs typeface="Calibri"/>
              </a:defRPr>
            </a:pPr>
            <a:r>
              <a:rPr sz="2025" b="1">
                <a:solidFill>
                  <a:srgbClr val="087E82"/>
                </a:solidFill>
                <a:latin typeface="Calibri"/>
                <a:ea typeface="Calibri"/>
                <a:cs typeface="Calibri"/>
              </a:rPr>
              <a:t>At test time, only step 1 adjusts the model. Query labels are used only to score it.</a:t>
            </a:r>
          </a:p>
        </p:txBody>
      </p:sp>
    </p:spTree>
    <p:extLst>
      <p:ext uri="{BB962C8B-B14F-4D97-AF65-F5344CB8AC3E}">
        <p14:creationId xmlns:p14="http://schemas.microsoft.com/office/powerpoint/2010/main" val="1653880458"/>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BCC8273E-9E9F-4EAA-BFEF-19AFAF356C1D}"/>
              </a:ext>
            </a:extLst>
          </p:cNvPr>
          <p:cNvCxnSpPr>
            <a:stCxn xmlns:a="http://schemas.openxmlformats.org/drawingml/2006/main" id="7" idx="3"/>
            <a:endCxn xmlns:a="http://schemas.openxmlformats.org/drawingml/2006/main" id="8" idx="1"/>
          </p:cNvCxnSpPr>
          <p:nvPr/>
        </p:nvCxnSpPr>
        <p:spPr>
          <a:xfrm xmlns:a="http://schemas.openxmlformats.org/drawingml/2006/main">
            <a:off x="8705850" y="1943100"/>
            <a:ext cx="438150"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10" name="">
            <a:extLst xmlns:a="http://schemas.openxmlformats.org/drawingml/2006/main">
              <a:ext uri="{FF2B5EF4-FFF2-40B4-BE49-F238E27FC236}">
                <a16:creationId xmlns:a16="http://schemas.microsoft.com/office/drawing/2014/main" id="{DD1ED465-FA94-431D-AEE3-D5186B6FF2D3}"/>
              </a:ext>
            </a:extLst>
          </p:cNvPr>
          <p:cNvCxnSpPr>
            <a:stCxn xmlns:a="http://schemas.openxmlformats.org/drawingml/2006/main" id="6" idx="3"/>
            <a:endCxn xmlns:a="http://schemas.openxmlformats.org/drawingml/2006/main" id="7" idx="1"/>
          </p:cNvCxnSpPr>
          <p:nvPr/>
        </p:nvCxnSpPr>
        <p:spPr>
          <a:xfrm xmlns:a="http://schemas.openxmlformats.org/drawingml/2006/main">
            <a:off x="5867400" y="1943100"/>
            <a:ext cx="438150" cy="0"/>
          </a:xfrm>
          <a:prstGeom xmlns:a="http://schemas.openxmlformats.org/drawingml/2006/main" prst="straightConnector1">
            <a:avLst/>
          </a:prstGeom>
          <a:ln xmlns:a="http://schemas.openxmlformats.org/drawingml/2006/main" w="23813">
            <a:solidFill>
              <a:srgbClr val="087E82"/>
            </a:solidFill>
            <a:tailEnd type="triangle" w="med" len="med"/>
          </a:ln>
        </p:spPr>
      </p:cxnSp>
      <p:cxnSp>
        <p:nvCxnSpPr>
          <p:cNvPr id="9" name="">
            <a:extLst xmlns:a="http://schemas.openxmlformats.org/drawingml/2006/main">
              <a:ext uri="{FF2B5EF4-FFF2-40B4-BE49-F238E27FC236}">
                <a16:creationId xmlns:a16="http://schemas.microsoft.com/office/drawing/2014/main" id="{4FBC4215-6746-44BC-9B78-2F0AEFE59F42}"/>
              </a:ext>
            </a:extLst>
          </p:cNvPr>
          <p:cNvCxnSpPr>
            <a:stCxn xmlns:a="http://schemas.openxmlformats.org/drawingml/2006/main" id="5" idx="3"/>
            <a:endCxn xmlns:a="http://schemas.openxmlformats.org/drawingml/2006/main" id="6" idx="1"/>
          </p:cNvCxnSpPr>
          <p:nvPr/>
        </p:nvCxnSpPr>
        <p:spPr>
          <a:xfrm xmlns:a="http://schemas.openxmlformats.org/drawingml/2006/main">
            <a:off x="3028950" y="1943100"/>
            <a:ext cx="438150" cy="0"/>
          </a:xfrm>
          <a:prstGeom xmlns:a="http://schemas.openxmlformats.org/drawingml/2006/main" prst="straightConnector1">
            <a:avLst/>
          </a:prstGeom>
          <a:ln xmlns:a="http://schemas.openxmlformats.org/drawingml/2006/main" w="23813">
            <a:solidFill>
              <a:srgbClr val="087E82"/>
            </a:solidFill>
            <a:tailEnd type="triangle" w="med" len="med"/>
          </a:ln>
        </p:spPr>
      </p:cxnSp>
      <p:sp>
        <p:nvSpPr>
          <p:cNvPr id="14" name="text-0">
            <a:extLst xmlns:a="http://schemas.openxmlformats.org/drawingml/2006/main">
              <a:ext uri="{FF2B5EF4-FFF2-40B4-BE49-F238E27FC236}">
                <a16:creationId xmlns:a16="http://schemas.microsoft.com/office/drawing/2014/main" id="{AA486EAB-7E4B-4852-B827-F504DCCF56E3}"/>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What we implemented in the notebook</a:t>
            </a:r>
          </a:p>
        </p:txBody>
      </p:sp>
      <p:sp>
        <p:nvSpPr>
          <p:cNvPr id="2" name="text-1">
            <a:extLst xmlns:a="http://schemas.openxmlformats.org/drawingml/2006/main">
              <a:ext uri="{FF2B5EF4-FFF2-40B4-BE49-F238E27FC236}">
                <a16:creationId xmlns:a16="http://schemas.microsoft.com/office/drawing/2014/main" id="{78B1D893-8C6F-44D9-BC24-88AF154E52D9}"/>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Python + PyTorch • one notebook containing data preparation, training and testing</a:t>
            </a:r>
          </a:p>
        </p:txBody>
      </p:sp>
      <p:sp>
        <p:nvSpPr>
          <p:cNvPr id="3" name="text-2">
            <a:extLst xmlns:a="http://schemas.openxmlformats.org/drawingml/2006/main">
              <a:ext uri="{FF2B5EF4-FFF2-40B4-BE49-F238E27FC236}">
                <a16:creationId xmlns:a16="http://schemas.microsoft.com/office/drawing/2014/main" id="{6FF03B83-CD85-46B2-B544-662AB8BB943B}"/>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Evidence: src/MAML_Bearing_Reproduction.ipynb; Config; per_seed_results.csv</a:t>
            </a:r>
          </a:p>
        </p:txBody>
      </p:sp>
      <p:sp>
        <p:nvSpPr>
          <p:cNvPr id="4" name="text-3">
            <a:extLst xmlns:a="http://schemas.openxmlformats.org/drawingml/2006/main">
              <a:ext uri="{FF2B5EF4-FFF2-40B4-BE49-F238E27FC236}">
                <a16:creationId xmlns:a16="http://schemas.microsoft.com/office/drawing/2014/main" id="{7CF21C50-8E85-4C72-A7D2-777B90976E25}"/>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09</a:t>
            </a:r>
          </a:p>
        </p:txBody>
      </p:sp>
      <p:sp>
        <p:nvSpPr>
          <p:cNvPr id="5" name="Load and prepare data">
            <a:extLst xmlns:a="http://schemas.openxmlformats.org/drawingml/2006/main">
              <a:ext uri="{FF2B5EF4-FFF2-40B4-BE49-F238E27FC236}">
                <a16:creationId xmlns:a16="http://schemas.microsoft.com/office/drawing/2014/main" id="{88EF9EBD-8C3E-4844-9C3B-E5A2F4A95C17}"/>
              </a:ext>
            </a:extLst>
          </p:cNvPr>
          <p:cNvSpPr>
            <a:spLocks xmlns:a="http://schemas.openxmlformats.org/drawingml/2006/main" noGrp="1"/>
          </p:cNvSpPr>
          <p:nvPr/>
        </p:nvSpPr>
        <p:spPr>
          <a:xfrm xmlns:a="http://schemas.openxmlformats.org/drawingml/2006/main">
            <a:off x="609600" y="1590675"/>
            <a:ext cx="2419350" cy="70485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00" b="1">
                <a:solidFill>
                  <a:srgbClr val="112D43"/>
                </a:solidFill>
                <a:latin typeface="Calibri"/>
                <a:ea typeface="Calibri"/>
                <a:cs typeface="Calibri"/>
              </a:defRPr>
            </a:defPPr>
          </a:lstStyle>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Load and prepare data</a:t>
            </a:r>
          </a:p>
        </p:txBody>
      </p:sp>
      <p:sp>
        <p:nvSpPr>
          <p:cNvPr id="6" name="Choose support&#10;and query examples">
            <a:extLst xmlns:a="http://schemas.openxmlformats.org/drawingml/2006/main">
              <a:ext uri="{FF2B5EF4-FFF2-40B4-BE49-F238E27FC236}">
                <a16:creationId xmlns:a16="http://schemas.microsoft.com/office/drawing/2014/main" id="{F808951C-2C4D-4BFC-ABA4-1359F59B240E}"/>
              </a:ext>
            </a:extLst>
          </p:cNvPr>
          <p:cNvSpPr>
            <a:spLocks xmlns:a="http://schemas.openxmlformats.org/drawingml/2006/main" noGrp="1"/>
          </p:cNvSpPr>
          <p:nvPr/>
        </p:nvSpPr>
        <p:spPr>
          <a:xfrm xmlns:a="http://schemas.openxmlformats.org/drawingml/2006/main">
            <a:off x="3467100" y="1590675"/>
            <a:ext cx="2400300" cy="70485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00" b="1">
                <a:solidFill>
                  <a:srgbClr val="112D43"/>
                </a:solidFill>
                <a:latin typeface="Calibri"/>
                <a:ea typeface="Calibri"/>
                <a:cs typeface="Calibri"/>
              </a:defRPr>
            </a:defPPr>
          </a:lstStyle>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Choose support</a:t>
            </a:r>
          </a:p>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and query examples</a:t>
            </a:r>
          </a:p>
        </p:txBody>
      </p:sp>
      <p:sp>
        <p:nvSpPr>
          <p:cNvPr id="7" name="Train CNN&#10;using MAML">
            <a:extLst xmlns:a="http://schemas.openxmlformats.org/drawingml/2006/main">
              <a:ext uri="{FF2B5EF4-FFF2-40B4-BE49-F238E27FC236}">
                <a16:creationId xmlns:a16="http://schemas.microsoft.com/office/drawing/2014/main" id="{609D8528-2C2D-4DB8-AD1F-003C1535A17B}"/>
              </a:ext>
            </a:extLst>
          </p:cNvPr>
          <p:cNvSpPr>
            <a:spLocks xmlns:a="http://schemas.openxmlformats.org/drawingml/2006/main" noGrp="1"/>
          </p:cNvSpPr>
          <p:nvPr/>
        </p:nvSpPr>
        <p:spPr>
          <a:xfrm xmlns:a="http://schemas.openxmlformats.org/drawingml/2006/main">
            <a:off x="6305550" y="1590675"/>
            <a:ext cx="2400300" cy="70485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00" b="1">
                <a:solidFill>
                  <a:srgbClr val="112D43"/>
                </a:solidFill>
                <a:latin typeface="Calibri"/>
                <a:ea typeface="Calibri"/>
                <a:cs typeface="Calibri"/>
              </a:defRPr>
            </a:defPPr>
          </a:lstStyle>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Train CNN</a:t>
            </a:r>
          </a:p>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using MAML</a:t>
            </a:r>
          </a:p>
        </p:txBody>
      </p:sp>
      <p:sp>
        <p:nvSpPr>
          <p:cNvPr id="8" name="Save results&#10;and graphs">
            <a:extLst xmlns:a="http://schemas.openxmlformats.org/drawingml/2006/main">
              <a:ext uri="{FF2B5EF4-FFF2-40B4-BE49-F238E27FC236}">
                <a16:creationId xmlns:a16="http://schemas.microsoft.com/office/drawing/2014/main" id="{2D4412EB-00D9-440B-8BEA-ACF4D24DD72A}"/>
              </a:ext>
            </a:extLst>
          </p:cNvPr>
          <p:cNvSpPr>
            <a:spLocks xmlns:a="http://schemas.openxmlformats.org/drawingml/2006/main" noGrp="1"/>
          </p:cNvSpPr>
          <p:nvPr/>
        </p:nvSpPr>
        <p:spPr>
          <a:xfrm xmlns:a="http://schemas.openxmlformats.org/drawingml/2006/main">
            <a:off x="9144000" y="1590675"/>
            <a:ext cx="2438400" cy="704850"/>
          </a:xfrm>
          <a:prstGeom xmlns:a="http://schemas.openxmlformats.org/drawingml/2006/main" prst="rect">
            <a:avLst/>
          </a:prstGeom>
          <a:solidFill xmlns:a="http://schemas.openxmlformats.org/drawingml/2006/main">
            <a:srgbClr val="E9F3F2"/>
          </a:solidFill>
          <a:ln xmlns:a="http://schemas.openxmlformats.org/drawingml/2006/main" w="12383">
            <a:solidFill>
              <a:srgbClr val="087E82"/>
            </a:solidFill>
          </a:ln>
        </p:spPr>
        <p:txBody>
          <a:bodyPr xmlns:a="http://schemas.openxmlformats.org/drawingml/2006/main" lIns="114300" tIns="114300" rIns="114300" bIns="114300" anchor="ctr"/>
          <a:lstStyle xmlns:a="http://schemas.openxmlformats.org/drawingml/2006/main">
            <a:defPPr algn="ctr">
              <a:defRPr sz="1800" b="1">
                <a:solidFill>
                  <a:srgbClr val="112D43"/>
                </a:solidFill>
                <a:latin typeface="Calibri"/>
                <a:ea typeface="Calibri"/>
                <a:cs typeface="Calibri"/>
              </a:defRPr>
            </a:defPPr>
          </a:lstStyle>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Save results</a:t>
            </a:r>
          </a:p>
          <a:p xmlns:a="http://schemas.openxmlformats.org/drawingml/2006/main">
            <a:pPr algn="ctr">
              <a:defRPr sz="1800" b="1">
                <a:solidFill>
                  <a:srgbClr val="112D43"/>
                </a:solidFill>
                <a:latin typeface="Calibri"/>
                <a:ea typeface="Calibri"/>
                <a:cs typeface="Calibri"/>
              </a:defRPr>
            </a:pPr>
            <a:r>
              <a:rPr sz="1800" b="1">
                <a:solidFill>
                  <a:srgbClr val="112D43"/>
                </a:solidFill>
                <a:latin typeface="Calibri"/>
                <a:ea typeface="Calibri"/>
                <a:cs typeface="Calibri"/>
              </a:rPr>
              <a:t>and graphs</a:t>
            </a:r>
          </a:p>
        </p:txBody>
      </p:sp>
      <p:graphicFrame>
        <p:nvGraphicFramePr>
          <p:cNvPr id="12" name="">
            <a:extLst xmlns:a="http://schemas.openxmlformats.org/drawingml/2006/main">
              <a:ext uri="{FF2B5EF4-FFF2-40B4-BE49-F238E27FC236}">
                <a16:creationId xmlns:a16="http://schemas.microsoft.com/office/drawing/2014/main" id="{16AFD5BC-4412-4CF1-94E3-AB1E5DCC05DD}"/>
              </a:ext>
            </a:extLst>
          </p:cNvPr>
          <p:cNvGraphicFramePr/>
          <p:nvPr/>
        </p:nvGraphicFramePr>
        <p:xfrm>
          <a:off xmlns:a="http://schemas.openxmlformats.org/drawingml/2006/main" x="609600" y="2686050"/>
          <a:ext xmlns:a="http://schemas.openxmlformats.org/drawingml/2006/main" cx="10972800" cy="3143250"/>
        </p:xfrm>
        <a:graphic xmlns:a="http://schemas.openxmlformats.org/drawingml/2006/main">
          <a:graphicData uri="http://schemas.openxmlformats.org/drawingml/2006/table">
            <a:tbl>
              <a:tblPr/>
              <a:tblGrid>
                <a:gridCol w="3524250"/>
                <a:gridCol w="7448550"/>
              </a:tblGrid>
              <a:tr h="628650">
                <a:tc>
                  <a:txBody>
                    <a:bodyPr lIns="133350" tIns="85725" rIns="95250" bIns="85725"/>
                    <a:lstStyle/>
                    <a:p>
                      <a:r>
                        <a:rPr sz="2025" b="1">
                          <a:solidFill>
                            <a:srgbClr val="FFFFFF"/>
                          </a:solidFill>
                          <a:latin typeface="Calibri"/>
                          <a:ea typeface="Calibri"/>
                          <a:cs typeface="Calibri"/>
                        </a:rPr>
                        <a:t>Setting</a:t>
                      </a:r>
                    </a:p>
                  </a:txBody>
                  <a:tcPr marL="91440" marR="91440" marT="45720" marB="45720" anchor="ctr">
                    <a:lnL w="9525">
                      <a:solidFill>
                        <a:srgbClr val="CDDADD"/>
                      </a:solidFill>
                    </a:lnL>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2025" b="1">
                          <a:solidFill>
                            <a:srgbClr val="FFFFFF"/>
                          </a:solidFill>
                          <a:latin typeface="Calibri"/>
                          <a:ea typeface="Calibri"/>
                          <a:cs typeface="Calibri"/>
                        </a:rPr>
                        <a:t>What we actually ran</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r>
              <a:tr h="628650">
                <a:tc>
                  <a:txBody>
                    <a:bodyPr lIns="133350" tIns="85725" rIns="95250" bIns="85725"/>
                    <a:lstStyle/>
                    <a:p>
                      <a:r>
                        <a:rPr sz="2025" b="0">
                          <a:solidFill>
                            <a:srgbClr val="20384A"/>
                          </a:solidFill>
                          <a:latin typeface="Calibri"/>
                          <a:ea typeface="Calibri"/>
                          <a:cs typeface="Calibri"/>
                        </a:rPr>
                        <a:t>Experiments</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2025" b="0">
                          <a:solidFill>
                            <a:srgbClr val="20384A"/>
                          </a:solidFill>
                          <a:latin typeface="Calibri"/>
                          <a:ea typeface="Calibri"/>
                          <a:cs typeface="Calibri"/>
                        </a:rPr>
                        <a:t>3-way 5-shot and 5-way 5-shot</a:t>
                      </a:r>
                    </a:p>
                  </a:txBody>
                  <a:tcPr marL="91440" marR="91440" marT="45720" marB="45720" anchor="ctr">
                    <a:lnR w="9525">
                      <a:solidFill>
                        <a:srgbClr val="CDDADD"/>
                      </a:solidFill>
                    </a:lnR>
                    <a:lnB w="9525">
                      <a:solidFill>
                        <a:srgbClr val="CDDADD"/>
                      </a:solidFill>
                    </a:lnB>
                    <a:solidFill>
                      <a:srgbClr val="FFFFFF"/>
                    </a:solidFill>
                  </a:tcPr>
                </a:tc>
              </a:tr>
              <a:tr h="628650">
                <a:tc>
                  <a:txBody>
                    <a:bodyPr lIns="133350" tIns="85725" rIns="95250" bIns="85725"/>
                    <a:lstStyle/>
                    <a:p>
                      <a:r>
                        <a:rPr sz="2025" b="0">
                          <a:solidFill>
                            <a:srgbClr val="20384A"/>
                          </a:solidFill>
                          <a:latin typeface="Calibri"/>
                          <a:ea typeface="Calibri"/>
                          <a:cs typeface="Calibri"/>
                        </a:rPr>
                        <a:t>Training runs</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2025" b="0">
                          <a:solidFill>
                            <a:srgbClr val="20384A"/>
                          </a:solidFill>
                          <a:latin typeface="Calibri"/>
                          <a:ea typeface="Calibri"/>
                          <a:cs typeface="Calibri"/>
                        </a:rPr>
                        <a:t>3 different random starts per experiment = 6 runs</a:t>
                      </a:r>
                    </a:p>
                  </a:txBody>
                  <a:tcPr marL="91440" marR="91440" marT="45720" marB="45720" anchor="ctr">
                    <a:lnR w="9525">
                      <a:solidFill>
                        <a:srgbClr val="CDDADD"/>
                      </a:solidFill>
                    </a:lnR>
                    <a:lnB w="9525">
                      <a:solidFill>
                        <a:srgbClr val="CDDADD"/>
                      </a:solidFill>
                    </a:lnB>
                    <a:solidFill>
                      <a:srgbClr val="E9F3F2"/>
                    </a:solidFill>
                  </a:tcPr>
                </a:tc>
              </a:tr>
              <a:tr h="628650">
                <a:tc>
                  <a:txBody>
                    <a:bodyPr lIns="133350" tIns="85725" rIns="95250" bIns="85725"/>
                    <a:lstStyle/>
                    <a:p>
                      <a:r>
                        <a:rPr sz="2025" b="0">
                          <a:solidFill>
                            <a:srgbClr val="20384A"/>
                          </a:solidFill>
                          <a:latin typeface="Calibri"/>
                          <a:ea typeface="Calibri"/>
                          <a:cs typeface="Calibri"/>
                        </a:rPr>
                        <a:t>Training budget</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2025" b="0">
                          <a:solidFill>
                            <a:srgbClr val="20384A"/>
                          </a:solidFill>
                          <a:latin typeface="Calibri"/>
                          <a:ea typeface="Calibri"/>
                          <a:cs typeface="Calibri"/>
                        </a:rPr>
                        <a:t>100 updates per run; 1 task in each update</a:t>
                      </a:r>
                    </a:p>
                  </a:txBody>
                  <a:tcPr marL="91440" marR="91440" marT="45720" marB="45720" anchor="ctr">
                    <a:lnR w="9525">
                      <a:solidFill>
                        <a:srgbClr val="CDDADD"/>
                      </a:solidFill>
                    </a:lnR>
                    <a:lnB w="9525">
                      <a:solidFill>
                        <a:srgbClr val="CDDADD"/>
                      </a:solidFill>
                    </a:lnB>
                    <a:solidFill>
                      <a:srgbClr val="FFFFFF"/>
                    </a:solidFill>
                  </a:tcPr>
                </a:tc>
              </a:tr>
              <a:tr h="628650">
                <a:tc>
                  <a:txBody>
                    <a:bodyPr lIns="133350" tIns="85725" rIns="95250" bIns="85725"/>
                    <a:lstStyle/>
                    <a:p>
                      <a:r>
                        <a:rPr sz="2025" b="0">
                          <a:solidFill>
                            <a:srgbClr val="20384A"/>
                          </a:solidFill>
                          <a:latin typeface="Calibri"/>
                          <a:ea typeface="Calibri"/>
                          <a:cs typeface="Calibri"/>
                        </a:rPr>
                        <a:t>Adaptation</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2025" b="0">
                          <a:solidFill>
                            <a:srgbClr val="20384A"/>
                          </a:solidFill>
                          <a:latin typeface="Calibri"/>
                          <a:ea typeface="Calibri"/>
                          <a:cs typeface="Calibri"/>
                        </a:rPr>
                        <a:t>1 support update; starting step size 0.01</a:t>
                      </a:r>
                    </a:p>
                  </a:txBody>
                  <a:tcPr marL="91440" marR="91440" marT="45720" marB="45720" anchor="ctr">
                    <a:lnR w="9525">
                      <a:solidFill>
                        <a:srgbClr val="CDDADD"/>
                      </a:solidFill>
                    </a:lnR>
                    <a:lnB w="9525">
                      <a:solidFill>
                        <a:srgbClr val="CDDADD"/>
                      </a:solidFill>
                    </a:lnB>
                    <a:solidFill>
                      <a:srgbClr val="E9F3F2"/>
                    </a:solidFill>
                  </a:tcPr>
                </a:tc>
              </a:tr>
            </a:tbl>
          </a:graphicData>
        </a:graphic>
      </p:graphicFrame>
      <p:sp>
        <p:nvSpPr>
          <p:cNvPr id="13" name="text-11">
            <a:extLst xmlns:a="http://schemas.openxmlformats.org/drawingml/2006/main">
              <a:ext uri="{FF2B5EF4-FFF2-40B4-BE49-F238E27FC236}">
                <a16:creationId xmlns:a16="http://schemas.microsoft.com/office/drawing/2014/main" id="{D69A6EF6-3621-4CE5-AA95-F857B2BA1AE5}"/>
              </a:ext>
            </a:extLst>
          </p:cNvPr>
          <p:cNvSpPr>
            <a:spLocks xmlns:a="http://schemas.openxmlformats.org/drawingml/2006/main" noGrp="1"/>
          </p:cNvSpPr>
          <p:nvPr/>
        </p:nvSpPr>
        <p:spPr>
          <a:xfrm xmlns:a="http://schemas.openxmlformats.org/drawingml/2006/main">
            <a:off x="628650" y="6029325"/>
            <a:ext cx="1090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SciPy reads the data; scikit-learn calculates metrics; Matplotlib / seaborn plot results.</a:t>
            </a:r>
          </a:p>
        </p:txBody>
      </p:sp>
    </p:spTree>
    <p:extLst>
      <p:ext uri="{BB962C8B-B14F-4D97-AF65-F5344CB8AC3E}">
        <p14:creationId xmlns:p14="http://schemas.microsoft.com/office/powerpoint/2010/main" val="645584720"/>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DCE12CC3-7B8D-4C1E-BC78-15482C4D5F7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How we tested the model</a:t>
            </a:r>
          </a:p>
        </p:txBody>
      </p:sp>
      <p:sp>
        <p:nvSpPr>
          <p:cNvPr id="2" name="text-1">
            <a:extLst xmlns:a="http://schemas.openxmlformats.org/drawingml/2006/main">
              <a:ext uri="{FF2B5EF4-FFF2-40B4-BE49-F238E27FC236}">
                <a16:creationId xmlns:a16="http://schemas.microsoft.com/office/drawing/2014/main" id="{016A7E2D-7B57-497C-B93F-45B44F6DB32B}"/>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Testing checks whether the model can adapt to fault classes it did not train on.</a:t>
            </a:r>
          </a:p>
        </p:txBody>
      </p:sp>
      <p:sp>
        <p:nvSpPr>
          <p:cNvPr id="3" name="text-2">
            <a:extLst xmlns:a="http://schemas.openxmlformats.org/drawingml/2006/main">
              <a:ext uri="{FF2B5EF4-FFF2-40B4-BE49-F238E27FC236}">
                <a16:creationId xmlns:a16="http://schemas.microsoft.com/office/drawing/2014/main" id="{E3128CAF-4C84-42E6-B267-E77801B694D2}"/>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Evidence: split_classes, TaskSampler and evaluate_model in the notebook</a:t>
            </a:r>
          </a:p>
        </p:txBody>
      </p:sp>
      <p:sp>
        <p:nvSpPr>
          <p:cNvPr id="4" name="text-3">
            <a:extLst xmlns:a="http://schemas.openxmlformats.org/drawingml/2006/main">
              <a:ext uri="{FF2B5EF4-FFF2-40B4-BE49-F238E27FC236}">
                <a16:creationId xmlns:a16="http://schemas.microsoft.com/office/drawing/2014/main" id="{107F2582-961B-44F6-8999-4DE69A1BCC88}"/>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10</a:t>
            </a:r>
          </a:p>
        </p:txBody>
      </p:sp>
      <p:sp>
        <p:nvSpPr>
          <p:cNvPr id="5" name="text-4">
            <a:extLst xmlns:a="http://schemas.openxmlformats.org/drawingml/2006/main">
              <a:ext uri="{FF2B5EF4-FFF2-40B4-BE49-F238E27FC236}">
                <a16:creationId xmlns:a16="http://schemas.microsoft.com/office/drawing/2014/main" id="{FE07D7CD-FEB5-4F0C-BCFF-8ABE567FAF43}"/>
              </a:ext>
            </a:extLst>
          </p:cNvPr>
          <p:cNvSpPr>
            <a:spLocks xmlns:a="http://schemas.openxmlformats.org/drawingml/2006/main" noGrp="1"/>
          </p:cNvSpPr>
          <p:nvPr/>
        </p:nvSpPr>
        <p:spPr>
          <a:xfrm xmlns:a="http://schemas.openxmlformats.org/drawingml/2006/main">
            <a:off x="609600" y="1571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Keep the test classes separate</a:t>
            </a:r>
          </a:p>
        </p:txBody>
      </p:sp>
      <p:sp>
        <p:nvSpPr>
          <p:cNvPr id="6" name="text-5">
            <a:extLst xmlns:a="http://schemas.openxmlformats.org/drawingml/2006/main">
              <a:ext uri="{FF2B5EF4-FFF2-40B4-BE49-F238E27FC236}">
                <a16:creationId xmlns:a16="http://schemas.microsoft.com/office/drawing/2014/main" id="{B852A1FD-C14F-45A6-8F12-7667D23FA9A6}"/>
              </a:ext>
            </a:extLst>
          </p:cNvPr>
          <p:cNvSpPr>
            <a:spLocks xmlns:a="http://schemas.openxmlformats.org/drawingml/2006/main" noGrp="1"/>
          </p:cNvSpPr>
          <p:nvPr/>
        </p:nvSpPr>
        <p:spPr>
          <a:xfrm xmlns:a="http://schemas.openxmlformats.org/drawingml/2006/main">
            <a:off x="609600" y="1981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3-way tests use three outer-ring faults; 5-way adds two inner-ring faults.</a:t>
            </a:r>
          </a:p>
        </p:txBody>
      </p:sp>
      <p:sp>
        <p:nvSpPr>
          <p:cNvPr id="7" name="text-6">
            <a:extLst xmlns:a="http://schemas.openxmlformats.org/drawingml/2006/main">
              <a:ext uri="{FF2B5EF4-FFF2-40B4-BE49-F238E27FC236}">
                <a16:creationId xmlns:a16="http://schemas.microsoft.com/office/drawing/2014/main" id="{315562F9-E36C-4BEE-8C59-6209DA17BD2C}"/>
              </a:ext>
            </a:extLst>
          </p:cNvPr>
          <p:cNvSpPr>
            <a:spLocks xmlns:a="http://schemas.openxmlformats.org/drawingml/2006/main" noGrp="1"/>
          </p:cNvSpPr>
          <p:nvPr/>
        </p:nvSpPr>
        <p:spPr>
          <a:xfrm xmlns:a="http://schemas.openxmlformats.org/drawingml/2006/main">
            <a:off x="609600" y="27908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Give the model a small learning set</a:t>
            </a:r>
          </a:p>
        </p:txBody>
      </p:sp>
      <p:sp>
        <p:nvSpPr>
          <p:cNvPr id="8" name="text-7">
            <a:extLst xmlns:a="http://schemas.openxmlformats.org/drawingml/2006/main">
              <a:ext uri="{FF2B5EF4-FFF2-40B4-BE49-F238E27FC236}">
                <a16:creationId xmlns:a16="http://schemas.microsoft.com/office/drawing/2014/main" id="{E4D40FF1-C580-4A7E-A2C7-5A7119897A7B}"/>
              </a:ext>
            </a:extLst>
          </p:cNvPr>
          <p:cNvSpPr>
            <a:spLocks xmlns:a="http://schemas.openxmlformats.org/drawingml/2006/main" noGrp="1"/>
          </p:cNvSpPr>
          <p:nvPr/>
        </p:nvSpPr>
        <p:spPr>
          <a:xfrm xmlns:a="http://schemas.openxmlformats.org/drawingml/2006/main">
            <a:off x="609600" y="3200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For each test task, give five labelled examples per class for adaptation.</a:t>
            </a:r>
          </a:p>
        </p:txBody>
      </p:sp>
      <p:sp>
        <p:nvSpPr>
          <p:cNvPr id="9" name="text-8">
            <a:extLst xmlns:a="http://schemas.openxmlformats.org/drawingml/2006/main">
              <a:ext uri="{FF2B5EF4-FFF2-40B4-BE49-F238E27FC236}">
                <a16:creationId xmlns:a16="http://schemas.microsoft.com/office/drawing/2014/main" id="{F7FEABCA-6551-403D-81A8-8FCDDD4F4766}"/>
              </a:ext>
            </a:extLst>
          </p:cNvPr>
          <p:cNvSpPr>
            <a:spLocks xmlns:a="http://schemas.openxmlformats.org/drawingml/2006/main" noGrp="1"/>
          </p:cNvSpPr>
          <p:nvPr/>
        </p:nvSpPr>
        <p:spPr>
          <a:xfrm xmlns:a="http://schemas.openxmlformats.org/drawingml/2006/main">
            <a:off x="609600" y="4010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Measure predictions on different examples</a:t>
            </a:r>
          </a:p>
        </p:txBody>
      </p:sp>
      <p:sp>
        <p:nvSpPr>
          <p:cNvPr id="10" name="text-9">
            <a:extLst xmlns:a="http://schemas.openxmlformats.org/drawingml/2006/main">
              <a:ext uri="{FF2B5EF4-FFF2-40B4-BE49-F238E27FC236}">
                <a16:creationId xmlns:a16="http://schemas.microsoft.com/office/drawing/2014/main" id="{7014F9A8-37B6-40FB-8FEE-8AFD1D839DBF}"/>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Test on 15 query examples per class. Repeat for 30 tasks in each run.</a:t>
            </a:r>
          </a:p>
        </p:txBody>
      </p:sp>
      <p:sp>
        <p:nvSpPr>
          <p:cNvPr id="11" name="text-10">
            <a:extLst xmlns:a="http://schemas.openxmlformats.org/drawingml/2006/main">
              <a:ext uri="{FF2B5EF4-FFF2-40B4-BE49-F238E27FC236}">
                <a16:creationId xmlns:a16="http://schemas.microsoft.com/office/drawing/2014/main" id="{9B5AFA1C-1B63-4F6A-9486-89896CD9F39C}"/>
              </a:ext>
            </a:extLst>
          </p:cNvPr>
          <p:cNvSpPr>
            <a:spLocks xmlns:a="http://schemas.openxmlformats.org/drawingml/2006/main" noGrp="1"/>
          </p:cNvSpPr>
          <p:nvPr/>
        </p:nvSpPr>
        <p:spPr>
          <a:xfrm xmlns:a="http://schemas.openxmlformats.org/drawingml/2006/main">
            <a:off x="628650" y="56197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87E82"/>
                </a:solidFill>
                <a:latin typeface="Calibri"/>
                <a:ea typeface="Calibri"/>
                <a:cs typeface="Calibri"/>
              </a:defRPr>
            </a:defPPr>
          </a:lstStyle>
          <a:p xmlns:a="http://schemas.openxmlformats.org/drawingml/2006/main">
            <a:pPr algn="l">
              <a:defRPr sz="2025" b="1">
                <a:solidFill>
                  <a:srgbClr val="087E82"/>
                </a:solidFill>
                <a:latin typeface="Calibri"/>
                <a:ea typeface="Calibri"/>
                <a:cs typeface="Calibri"/>
              </a:defRPr>
            </a:pPr>
            <a:r>
              <a:rPr sz="2025" b="1">
                <a:solidFill>
                  <a:srgbClr val="087E82"/>
                </a:solidFill>
                <a:latin typeface="Calibri"/>
                <a:ea typeface="Calibri"/>
                <a:cs typeface="Calibri"/>
              </a:rPr>
              <a:t>We also separate support and query windows in time. Each task starts from the same trained weights.</a:t>
            </a:r>
          </a:p>
        </p:txBody>
      </p:sp>
    </p:spTree>
    <p:extLst>
      <p:ext uri="{BB962C8B-B14F-4D97-AF65-F5344CB8AC3E}">
        <p14:creationId xmlns:p14="http://schemas.microsoft.com/office/powerpoint/2010/main" val="608774849"/>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4C528FA-CA9F-43AC-9DCE-393A6BB71C91}"/>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Our measured results</a:t>
            </a:r>
          </a:p>
        </p:txBody>
      </p:sp>
      <p:sp>
        <p:nvSpPr>
          <p:cNvPr id="2" name="text-1">
            <a:extLst xmlns:a="http://schemas.openxmlformats.org/drawingml/2006/main">
              <a:ext uri="{FF2B5EF4-FFF2-40B4-BE49-F238E27FC236}">
                <a16:creationId xmlns:a16="http://schemas.microsoft.com/office/drawing/2014/main" id="{938F8FC9-30AD-4048-A5D8-D3474C542B2C}"/>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Average percentages over three runs; ± shows variation (standard deviation).</a:t>
            </a:r>
          </a:p>
        </p:txBody>
      </p:sp>
      <p:sp>
        <p:nvSpPr>
          <p:cNvPr id="3" name="text-2">
            <a:extLst xmlns:a="http://schemas.openxmlformats.org/drawingml/2006/main">
              <a:ext uri="{FF2B5EF4-FFF2-40B4-BE49-F238E27FC236}">
                <a16:creationId xmlns:a16="http://schemas.microsoft.com/office/drawing/2014/main" id="{302B3A32-A29A-46B9-9644-405C46F8C238}"/>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 results/tables/aggregate_results.csv</a:t>
            </a:r>
          </a:p>
        </p:txBody>
      </p:sp>
      <p:sp>
        <p:nvSpPr>
          <p:cNvPr id="4" name="text-3">
            <a:extLst xmlns:a="http://schemas.openxmlformats.org/drawingml/2006/main">
              <a:ext uri="{FF2B5EF4-FFF2-40B4-BE49-F238E27FC236}">
                <a16:creationId xmlns:a16="http://schemas.microsoft.com/office/drawing/2014/main" id="{3F922663-53AF-4103-8AF9-3F72EBCE8D6D}"/>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11</a:t>
            </a:r>
          </a:p>
        </p:txBody>
      </p:sp>
      <p:graphicFrame>
        <p:nvGraphicFramePr>
          <p:cNvPr id="5" name="">
            <a:extLst xmlns:a="http://schemas.openxmlformats.org/drawingml/2006/main">
              <a:ext uri="{FF2B5EF4-FFF2-40B4-BE49-F238E27FC236}">
                <a16:creationId xmlns:a16="http://schemas.microsoft.com/office/drawing/2014/main" id="{810A385D-0248-4F97-BB49-B5F1B3387EA5}"/>
              </a:ext>
            </a:extLst>
          </p:cNvPr>
          <p:cNvGraphicFramePr/>
          <p:nvPr/>
        </p:nvGraphicFramePr>
        <p:xfrm>
          <a:off xmlns:a="http://schemas.openxmlformats.org/drawingml/2006/main" x="609600" y="1657350"/>
          <a:ext xmlns:a="http://schemas.openxmlformats.org/drawingml/2006/main" cx="10972800" cy="3429000"/>
        </p:xfrm>
        <a:graphic xmlns:a="http://schemas.openxmlformats.org/drawingml/2006/main">
          <a:graphicData uri="http://schemas.openxmlformats.org/drawingml/2006/table">
            <a:tbl>
              <a:tblPr/>
              <a:tblGrid>
                <a:gridCol w="1952625"/>
                <a:gridCol w="3990975"/>
                <a:gridCol w="2514600"/>
                <a:gridCol w="2514600"/>
              </a:tblGrid>
              <a:tr h="685800">
                <a:tc>
                  <a:txBody>
                    <a:bodyPr lIns="133350" tIns="85725" rIns="95250" bIns="85725"/>
                    <a:lstStyle/>
                    <a:p>
                      <a:r>
                        <a:rPr sz="1875" b="1">
                          <a:solidFill>
                            <a:srgbClr val="FFFFFF"/>
                          </a:solidFill>
                          <a:latin typeface="Calibri"/>
                          <a:ea typeface="Calibri"/>
                          <a:cs typeface="Calibri"/>
                        </a:rPr>
                        <a:t>Metric</a:t>
                      </a:r>
                    </a:p>
                  </a:txBody>
                  <a:tcPr marL="91440" marR="91440" marT="45720" marB="45720" anchor="ctr">
                    <a:lnL w="9525">
                      <a:solidFill>
                        <a:srgbClr val="CDDADD"/>
                      </a:solidFill>
                    </a:lnL>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875" b="1">
                          <a:solidFill>
                            <a:srgbClr val="FFFFFF"/>
                          </a:solidFill>
                          <a:latin typeface="Calibri"/>
                          <a:ea typeface="Calibri"/>
                          <a:cs typeface="Calibri"/>
                        </a:rPr>
                        <a:t>What it measures</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875" b="1">
                          <a:solidFill>
                            <a:srgbClr val="FFFFFF"/>
                          </a:solidFill>
                          <a:latin typeface="Calibri"/>
                          <a:ea typeface="Calibri"/>
                          <a:cs typeface="Calibri"/>
                        </a:rPr>
                        <a:t>3-way 5-shot</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875" b="1">
                          <a:solidFill>
                            <a:srgbClr val="FFFFFF"/>
                          </a:solidFill>
                          <a:latin typeface="Calibri"/>
                          <a:ea typeface="Calibri"/>
                          <a:cs typeface="Calibri"/>
                        </a:rPr>
                        <a:t>5-way 5-shot</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r>
              <a:tr h="685800">
                <a:tc>
                  <a:txBody>
                    <a:bodyPr lIns="133350" tIns="85725" rIns="95250" bIns="85725"/>
                    <a:lstStyle/>
                    <a:p>
                      <a:r>
                        <a:rPr sz="1875" b="0">
                          <a:solidFill>
                            <a:srgbClr val="20384A"/>
                          </a:solidFill>
                          <a:latin typeface="Calibri"/>
                          <a:ea typeface="Calibri"/>
                          <a:cs typeface="Calibri"/>
                        </a:rPr>
                        <a:t>Accuracy</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1875" b="0">
                          <a:solidFill>
                            <a:srgbClr val="20384A"/>
                          </a:solidFill>
                          <a:latin typeface="Calibri"/>
                          <a:ea typeface="Calibri"/>
                          <a:cs typeface="Calibri"/>
                        </a:rPr>
                        <a:t>Overall correct predictions</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875" b="0">
                          <a:solidFill>
                            <a:srgbClr val="20384A"/>
                          </a:solidFill>
                          <a:latin typeface="Calibri"/>
                          <a:ea typeface="Calibri"/>
                          <a:cs typeface="Calibri"/>
                        </a:rPr>
                        <a:t>94.05 ± 1.20</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875" b="0">
                          <a:solidFill>
                            <a:srgbClr val="20384A"/>
                          </a:solidFill>
                          <a:latin typeface="Calibri"/>
                          <a:ea typeface="Calibri"/>
                          <a:cs typeface="Calibri"/>
                        </a:rPr>
                        <a:t>58.03 ± 5.30</a:t>
                      </a:r>
                    </a:p>
                  </a:txBody>
                  <a:tcPr marL="91440" marR="91440" marT="45720" marB="45720" anchor="ctr">
                    <a:lnR w="9525">
                      <a:solidFill>
                        <a:srgbClr val="CDDADD"/>
                      </a:solidFill>
                    </a:lnR>
                    <a:lnB w="9525">
                      <a:solidFill>
                        <a:srgbClr val="CDDADD"/>
                      </a:solidFill>
                    </a:lnB>
                    <a:solidFill>
                      <a:srgbClr val="FFFFFF"/>
                    </a:solidFill>
                  </a:tcPr>
                </a:tc>
              </a:tr>
              <a:tr h="685800">
                <a:tc>
                  <a:txBody>
                    <a:bodyPr lIns="133350" tIns="85725" rIns="95250" bIns="85725"/>
                    <a:lstStyle/>
                    <a:p>
                      <a:r>
                        <a:rPr sz="1875" b="0">
                          <a:solidFill>
                            <a:srgbClr val="20384A"/>
                          </a:solidFill>
                          <a:latin typeface="Calibri"/>
                          <a:ea typeface="Calibri"/>
                          <a:cs typeface="Calibri"/>
                        </a:rPr>
                        <a:t>Precision</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1875" b="0">
                          <a:solidFill>
                            <a:srgbClr val="20384A"/>
                          </a:solidFill>
                          <a:latin typeface="Calibri"/>
                          <a:ea typeface="Calibri"/>
                          <a:cs typeface="Calibri"/>
                        </a:rPr>
                        <a:t>Correctness of predicted classes</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875" b="0">
                          <a:solidFill>
                            <a:srgbClr val="20384A"/>
                          </a:solidFill>
                          <a:latin typeface="Calibri"/>
                          <a:ea typeface="Calibri"/>
                          <a:cs typeface="Calibri"/>
                        </a:rPr>
                        <a:t>94.59 ± 1.35</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875" b="0">
                          <a:solidFill>
                            <a:srgbClr val="20384A"/>
                          </a:solidFill>
                          <a:latin typeface="Calibri"/>
                          <a:ea typeface="Calibri"/>
                          <a:cs typeface="Calibri"/>
                        </a:rPr>
                        <a:t>64.34 ± 3.66</a:t>
                      </a:r>
                    </a:p>
                  </a:txBody>
                  <a:tcPr marL="91440" marR="91440" marT="45720" marB="45720" anchor="ctr">
                    <a:lnR w="9525">
                      <a:solidFill>
                        <a:srgbClr val="CDDADD"/>
                      </a:solidFill>
                    </a:lnR>
                    <a:lnB w="9525">
                      <a:solidFill>
                        <a:srgbClr val="CDDADD"/>
                      </a:solidFill>
                    </a:lnB>
                    <a:solidFill>
                      <a:srgbClr val="E9F3F2"/>
                    </a:solidFill>
                  </a:tcPr>
                </a:tc>
              </a:tr>
              <a:tr h="685800">
                <a:tc>
                  <a:txBody>
                    <a:bodyPr lIns="133350" tIns="85725" rIns="95250" bIns="85725"/>
                    <a:lstStyle/>
                    <a:p>
                      <a:r>
                        <a:rPr sz="1875" b="0">
                          <a:solidFill>
                            <a:srgbClr val="20384A"/>
                          </a:solidFill>
                          <a:latin typeface="Calibri"/>
                          <a:ea typeface="Calibri"/>
                          <a:cs typeface="Calibri"/>
                        </a:rPr>
                        <a:t>Recall</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1875" b="0">
                          <a:solidFill>
                            <a:srgbClr val="20384A"/>
                          </a:solidFill>
                          <a:latin typeface="Calibri"/>
                          <a:ea typeface="Calibri"/>
                          <a:cs typeface="Calibri"/>
                        </a:rPr>
                        <a:t>How many actual cases are found</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875" b="0">
                          <a:solidFill>
                            <a:srgbClr val="20384A"/>
                          </a:solidFill>
                          <a:latin typeface="Calibri"/>
                          <a:ea typeface="Calibri"/>
                          <a:cs typeface="Calibri"/>
                        </a:rPr>
                        <a:t>94.05 ± 1.20</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875" b="0">
                          <a:solidFill>
                            <a:srgbClr val="20384A"/>
                          </a:solidFill>
                          <a:latin typeface="Calibri"/>
                          <a:ea typeface="Calibri"/>
                          <a:cs typeface="Calibri"/>
                        </a:rPr>
                        <a:t>58.03 ± 5.30</a:t>
                      </a:r>
                    </a:p>
                  </a:txBody>
                  <a:tcPr marL="91440" marR="91440" marT="45720" marB="45720" anchor="ctr">
                    <a:lnR w="9525">
                      <a:solidFill>
                        <a:srgbClr val="CDDADD"/>
                      </a:solidFill>
                    </a:lnR>
                    <a:lnB w="9525">
                      <a:solidFill>
                        <a:srgbClr val="CDDADD"/>
                      </a:solidFill>
                    </a:lnB>
                    <a:solidFill>
                      <a:srgbClr val="FFFFFF"/>
                    </a:solidFill>
                  </a:tcPr>
                </a:tc>
              </a:tr>
              <a:tr h="685800">
                <a:tc>
                  <a:txBody>
                    <a:bodyPr lIns="133350" tIns="85725" rIns="95250" bIns="85725"/>
                    <a:lstStyle/>
                    <a:p>
                      <a:r>
                        <a:rPr sz="1875" b="0">
                          <a:solidFill>
                            <a:srgbClr val="20384A"/>
                          </a:solidFill>
                          <a:latin typeface="Calibri"/>
                          <a:ea typeface="Calibri"/>
                          <a:cs typeface="Calibri"/>
                        </a:rPr>
                        <a:t>F1 score</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1875" b="0">
                          <a:solidFill>
                            <a:srgbClr val="20384A"/>
                          </a:solidFill>
                          <a:latin typeface="Calibri"/>
                          <a:ea typeface="Calibri"/>
                          <a:cs typeface="Calibri"/>
                        </a:rPr>
                        <a:t>Balance of precision and recall</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875" b="0">
                          <a:solidFill>
                            <a:srgbClr val="20384A"/>
                          </a:solidFill>
                          <a:latin typeface="Calibri"/>
                          <a:ea typeface="Calibri"/>
                          <a:cs typeface="Calibri"/>
                        </a:rPr>
                        <a:t>94.02 ± 1.20</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875" b="0">
                          <a:solidFill>
                            <a:srgbClr val="20384A"/>
                          </a:solidFill>
                          <a:latin typeface="Calibri"/>
                          <a:ea typeface="Calibri"/>
                          <a:cs typeface="Calibri"/>
                        </a:rPr>
                        <a:t>55.60 ± 6.26</a:t>
                      </a:r>
                    </a:p>
                  </a:txBody>
                  <a:tcPr marL="91440" marR="91440" marT="45720" marB="45720" anchor="ctr">
                    <a:lnR w="9525">
                      <a:solidFill>
                        <a:srgbClr val="CDDADD"/>
                      </a:solidFill>
                    </a:lnR>
                    <a:lnB w="9525">
                      <a:solidFill>
                        <a:srgbClr val="CDDADD"/>
                      </a:solidFill>
                    </a:lnB>
                    <a:solidFill>
                      <a:srgbClr val="E9F3F2"/>
                    </a:solidFill>
                  </a:tcPr>
                </a:tc>
              </a:tr>
            </a:tbl>
          </a:graphicData>
        </a:graphic>
      </p:graphicFrame>
      <p:sp>
        <p:nvSpPr>
          <p:cNvPr id="6" name="text-4">
            <a:extLst xmlns:a="http://schemas.openxmlformats.org/drawingml/2006/main">
              <a:ext uri="{FF2B5EF4-FFF2-40B4-BE49-F238E27FC236}">
                <a16:creationId xmlns:a16="http://schemas.microsoft.com/office/drawing/2014/main" id="{AB56EED2-2658-4C5E-B594-576DFBA9DF47}"/>
              </a:ext>
            </a:extLst>
          </p:cNvPr>
          <p:cNvSpPr>
            <a:spLocks xmlns:a="http://schemas.openxmlformats.org/drawingml/2006/main" noGrp="1"/>
          </p:cNvSpPr>
          <p:nvPr/>
        </p:nvSpPr>
        <p:spPr>
          <a:xfrm xmlns:a="http://schemas.openxmlformats.org/drawingml/2006/main">
            <a:off x="628650" y="5476875"/>
            <a:ext cx="10906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The 3-way task performed well. The 5-way task was harder and less consistent.</a:t>
            </a:r>
          </a:p>
        </p:txBody>
      </p:sp>
    </p:spTree>
    <p:extLst>
      <p:ext uri="{BB962C8B-B14F-4D97-AF65-F5344CB8AC3E}">
        <p14:creationId xmlns:p14="http://schemas.microsoft.com/office/powerpoint/2010/main" val="300373031"/>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301461C-1307-4A8D-8593-CE809C25D61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Where the model made mistakes</a:t>
            </a:r>
          </a:p>
        </p:txBody>
      </p:sp>
      <p:sp>
        <p:nvSpPr>
          <p:cNvPr id="2" name="text-1">
            <a:extLst xmlns:a="http://schemas.openxmlformats.org/drawingml/2006/main">
              <a:ext uri="{FF2B5EF4-FFF2-40B4-BE49-F238E27FC236}">
                <a16:creationId xmlns:a16="http://schemas.microsoft.com/office/drawing/2014/main" id="{5343B810-B0F8-42B4-80CE-45D338CBCB2F}"/>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Confusion matrix: rows show the real class; columns show the predicted class.</a:t>
            </a:r>
          </a:p>
        </p:txBody>
      </p:sp>
      <p:sp>
        <p:nvSpPr>
          <p:cNvPr id="3" name="text-2">
            <a:extLst xmlns:a="http://schemas.openxmlformats.org/drawingml/2006/main">
              <a:ext uri="{FF2B5EF4-FFF2-40B4-BE49-F238E27FC236}">
                <a16:creationId xmlns:a16="http://schemas.microsoft.com/office/drawing/2014/main" id="{227E2A50-1D32-4FD9-8CB4-2FBA26EB5FDD}"/>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Sources: the project’s original saved confusion-matrix figures and CSV tables</a:t>
            </a:r>
          </a:p>
        </p:txBody>
      </p:sp>
      <p:sp>
        <p:nvSpPr>
          <p:cNvPr id="4" name="text-3">
            <a:extLst xmlns:a="http://schemas.openxmlformats.org/drawingml/2006/main">
              <a:ext uri="{FF2B5EF4-FFF2-40B4-BE49-F238E27FC236}">
                <a16:creationId xmlns:a16="http://schemas.microsoft.com/office/drawing/2014/main" id="{C9D75B67-D37A-414B-AADE-AA7164BED434}"/>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12</a:t>
            </a:r>
          </a:p>
        </p:txBody>
      </p:sp>
      <p:pic>
        <p:nvPicPr>
          <p:cNvPr id="5" name="">
            <a:extLst xmlns:a="http://schemas.openxmlformats.org/drawingml/2006/main">
              <a:ext uri="{FF2B5EF4-FFF2-40B4-BE49-F238E27FC236}">
                <a16:creationId xmlns:a16="http://schemas.microsoft.com/office/drawing/2014/main" id="{6627CF92-AC64-47A4-AC7F-9D58440E01FC}"/>
              </a:ext>
            </a:extLst>
          </p:cNvPr>
          <p:cNvPicPr>
            <a:picLocks xmlns:a="http://schemas.openxmlformats.org/drawingml/2006/main" noChangeAspect="1"/>
          </p:cNvPicPr>
          <p:nvPr/>
        </p:nvPicPr>
        <p:blipFill>
          <a:blip xmlns:r="http://schemas.openxmlformats.org/officeDocument/2006/relationships" xmlns:a="http://schemas.openxmlformats.org/drawingml/2006/main" r:embed="R94cfe3824517471d"/>
          <a:stretch xmlns:a="http://schemas.openxmlformats.org/drawingml/2006/main"/>
        </p:blipFill>
        <p:spPr>
          <a:xfrm xmlns:a="http://schemas.openxmlformats.org/drawingml/2006/main">
            <a:off x="515303" y="1543050"/>
            <a:ext cx="5427345" cy="38766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C9C7B0B-DA46-4D81-8D86-BC03A332D9C4}"/>
              </a:ext>
            </a:extLst>
          </p:cNvPr>
          <p:cNvPicPr>
            <a:picLocks xmlns:a="http://schemas.openxmlformats.org/drawingml/2006/main" noChangeAspect="1"/>
          </p:cNvPicPr>
          <p:nvPr/>
        </p:nvPicPr>
        <p:blipFill>
          <a:blip xmlns:r="http://schemas.openxmlformats.org/officeDocument/2006/relationships" xmlns:a="http://schemas.openxmlformats.org/drawingml/2006/main" r:embed="R0051ec4467084346"/>
          <a:stretch xmlns:a="http://schemas.openxmlformats.org/drawingml/2006/main"/>
        </p:blipFill>
        <p:spPr>
          <a:xfrm xmlns:a="http://schemas.openxmlformats.org/drawingml/2006/main">
            <a:off x="6249353" y="1543050"/>
            <a:ext cx="5427345" cy="3876675"/>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AC64AC70-E34D-43D1-9E08-CD6F0472B29D}"/>
              </a:ext>
            </a:extLst>
          </p:cNvPr>
          <p:cNvSpPr>
            <a:spLocks xmlns:a="http://schemas.openxmlformats.org/drawingml/2006/main" noGrp="1"/>
          </p:cNvSpPr>
          <p:nvPr/>
        </p:nvSpPr>
        <p:spPr>
          <a:xfrm xmlns:a="http://schemas.openxmlformats.org/drawingml/2006/main">
            <a:off x="628650" y="5581650"/>
            <a:ext cx="525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87E82"/>
                </a:solidFill>
                <a:latin typeface="Calibri"/>
                <a:ea typeface="Calibri"/>
                <a:cs typeface="Calibri"/>
              </a:defRPr>
            </a:defPPr>
          </a:lstStyle>
          <a:p xmlns:a="http://schemas.openxmlformats.org/drawingml/2006/main">
            <a:pPr algn="l">
              <a:defRPr sz="1875" b="1">
                <a:solidFill>
                  <a:srgbClr val="087E82"/>
                </a:solidFill>
                <a:latin typeface="Calibri"/>
                <a:ea typeface="Calibri"/>
                <a:cs typeface="Calibri"/>
              </a:defRPr>
            </a:pPr>
            <a:r>
              <a:rPr sz="1875" b="1">
                <a:solidFill>
                  <a:srgbClr val="087E82"/>
                </a:solidFill>
                <a:latin typeface="Calibri"/>
                <a:ea typeface="Calibri"/>
                <a:cs typeface="Calibri"/>
              </a:rPr>
              <a:t>3-way: most predictions are correct.</a:t>
            </a:r>
          </a:p>
          <a:p xmlns:a="http://schemas.openxmlformats.org/drawingml/2006/main">
            <a:pPr algn="l">
              <a:defRPr sz="1875" b="1">
                <a:solidFill>
                  <a:srgbClr val="087E82"/>
                </a:solidFill>
                <a:latin typeface="Calibri"/>
                <a:ea typeface="Calibri"/>
                <a:cs typeface="Calibri"/>
              </a:defRPr>
            </a:pPr>
            <a:r>
              <a:rPr sz="1875" b="1">
                <a:solidFill>
                  <a:srgbClr val="087E82"/>
                </a:solidFill>
                <a:latin typeface="Calibri"/>
                <a:ea typeface="Calibri"/>
                <a:cs typeface="Calibri"/>
              </a:rPr>
              <a:t>Most errors mix two outer-ring fault sizes.</a:t>
            </a:r>
          </a:p>
        </p:txBody>
      </p:sp>
      <p:sp>
        <p:nvSpPr>
          <p:cNvPr id="8" name="text-5">
            <a:extLst xmlns:a="http://schemas.openxmlformats.org/drawingml/2006/main">
              <a:ext uri="{FF2B5EF4-FFF2-40B4-BE49-F238E27FC236}">
                <a16:creationId xmlns:a16="http://schemas.microsoft.com/office/drawing/2014/main" id="{A21ECD2D-F280-4296-ABC9-AA87294297CD}"/>
              </a:ext>
            </a:extLst>
          </p:cNvPr>
          <p:cNvSpPr>
            <a:spLocks xmlns:a="http://schemas.openxmlformats.org/drawingml/2006/main" noGrp="1"/>
          </p:cNvSpPr>
          <p:nvPr/>
        </p:nvSpPr>
        <p:spPr>
          <a:xfrm xmlns:a="http://schemas.openxmlformats.org/drawingml/2006/main">
            <a:off x="6400800" y="5581650"/>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12D43"/>
                </a:solidFill>
                <a:latin typeface="Calibri"/>
                <a:ea typeface="Calibri"/>
                <a:cs typeface="Calibri"/>
              </a:defRPr>
            </a:defPPr>
          </a:lstStyle>
          <a:p xmlns:a="http://schemas.openxmlformats.org/drawingml/2006/main">
            <a:pPr algn="l">
              <a:defRPr sz="1875" b="1">
                <a:solidFill>
                  <a:srgbClr val="112D43"/>
                </a:solidFill>
                <a:latin typeface="Calibri"/>
                <a:ea typeface="Calibri"/>
                <a:cs typeface="Calibri"/>
              </a:defRPr>
            </a:pPr>
            <a:r>
              <a:rPr sz="1875" b="1">
                <a:solidFill>
                  <a:srgbClr val="112D43"/>
                </a:solidFill>
                <a:latin typeface="Calibri"/>
                <a:ea typeface="Calibri"/>
                <a:cs typeface="Calibri"/>
              </a:rPr>
              <a:t>5-way: inner-ring faults are often</a:t>
            </a:r>
          </a:p>
          <a:p xmlns:a="http://schemas.openxmlformats.org/drawingml/2006/main">
            <a:pPr algn="l">
              <a:defRPr sz="1875" b="1">
                <a:solidFill>
                  <a:srgbClr val="112D43"/>
                </a:solidFill>
                <a:latin typeface="Calibri"/>
                <a:ea typeface="Calibri"/>
                <a:cs typeface="Calibri"/>
              </a:defRPr>
            </a:pPr>
            <a:r>
              <a:rPr sz="1875" b="1">
                <a:solidFill>
                  <a:srgbClr val="112D43"/>
                </a:solidFill>
                <a:latin typeface="Calibri"/>
                <a:ea typeface="Calibri"/>
                <a:cs typeface="Calibri"/>
              </a:rPr>
              <a:t>predicted as outer-ring faults.</a:t>
            </a:r>
          </a:p>
        </p:txBody>
      </p:sp>
    </p:spTree>
    <p:extLst>
      <p:ext uri="{BB962C8B-B14F-4D97-AF65-F5344CB8AC3E}">
        <p14:creationId xmlns:p14="http://schemas.microsoft.com/office/powerpoint/2010/main" val="970474008"/>
      </p:ext>
    </p:extLst>
  </p:cSld>
</p:sld>
</file>

<file path=ppt/slides/slide1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4A13464-1F73-4F17-AEC8-EC2384798D5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Our results compared with the original paper</a:t>
            </a:r>
          </a:p>
        </p:txBody>
      </p:sp>
      <p:sp>
        <p:nvSpPr>
          <p:cNvPr id="2" name="text-1">
            <a:extLst xmlns:a="http://schemas.openxmlformats.org/drawingml/2006/main">
              <a:ext uri="{FF2B5EF4-FFF2-40B4-BE49-F238E27FC236}">
                <a16:creationId xmlns:a16="http://schemas.microsoft.com/office/drawing/2014/main" id="{92F6708D-EC33-4393-8B26-4D3EE784F344}"/>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Accuracy for the same named tasks, using MAML with learnable adaptation rates</a:t>
            </a:r>
          </a:p>
        </p:txBody>
      </p:sp>
      <p:sp>
        <p:nvSpPr>
          <p:cNvPr id="3" name="text-2">
            <a:extLst xmlns:a="http://schemas.openxmlformats.org/drawingml/2006/main">
              <a:ext uri="{FF2B5EF4-FFF2-40B4-BE49-F238E27FC236}">
                <a16:creationId xmlns:a16="http://schemas.microsoft.com/office/drawing/2014/main" id="{1ECA3CE8-9C0F-4931-A3A1-5A84BC6AF9D9}"/>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Sources: original paper, Table V; results/tables/paper_vs_ours.csv</a:t>
            </a:r>
          </a:p>
        </p:txBody>
      </p:sp>
      <p:sp>
        <p:nvSpPr>
          <p:cNvPr id="4" name="text-3">
            <a:extLst xmlns:a="http://schemas.openxmlformats.org/drawingml/2006/main">
              <a:ext uri="{FF2B5EF4-FFF2-40B4-BE49-F238E27FC236}">
                <a16:creationId xmlns:a16="http://schemas.microsoft.com/office/drawing/2014/main" id="{32A81F70-9EFA-4602-B031-F09AE310214D}"/>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13</a:t>
            </a:r>
          </a:p>
        </p:txBody>
      </p:sp>
      <p:graphicFrame>
        <p:nvGraphicFramePr>
          <p:cNvPr id="5" name="">
            <a:extLst xmlns:a="http://schemas.openxmlformats.org/drawingml/2006/main">
              <a:ext uri="{FF2B5EF4-FFF2-40B4-BE49-F238E27FC236}">
                <a16:creationId xmlns:a16="http://schemas.microsoft.com/office/drawing/2014/main" id="{EAEC4D49-87CA-4D5A-9047-84943683A0F4}"/>
              </a:ext>
            </a:extLst>
          </p:cNvPr>
          <p:cNvGraphicFramePr/>
          <p:nvPr/>
        </p:nvGraphicFramePr>
        <p:xfrm>
          <a:off xmlns:a="http://schemas.openxmlformats.org/drawingml/2006/main" x="609600" y="1657350"/>
          <a:ext xmlns:a="http://schemas.openxmlformats.org/drawingml/2006/main" cx="10972800" cy="2400300"/>
        </p:xfrm>
        <a:graphic xmlns:a="http://schemas.openxmlformats.org/drawingml/2006/main">
          <a:graphicData uri="http://schemas.openxmlformats.org/drawingml/2006/table">
            <a:tbl>
              <a:tblPr/>
              <a:tblGrid>
                <a:gridCol w="2733675"/>
                <a:gridCol w="2638425"/>
                <a:gridCol w="2638425"/>
                <a:gridCol w="2962275"/>
              </a:tblGrid>
              <a:tr h="800100">
                <a:tc>
                  <a:txBody>
                    <a:bodyPr lIns="133350" tIns="85725" rIns="95250" bIns="85725"/>
                    <a:lstStyle/>
                    <a:p>
                      <a:r>
                        <a:rPr sz="1950" b="1">
                          <a:solidFill>
                            <a:srgbClr val="FFFFFF"/>
                          </a:solidFill>
                          <a:latin typeface="Calibri"/>
                          <a:ea typeface="Calibri"/>
                          <a:cs typeface="Calibri"/>
                        </a:rPr>
                        <a:t>Experiment</a:t>
                      </a:r>
                    </a:p>
                  </a:txBody>
                  <a:tcPr marL="91440" marR="91440" marT="45720" marB="45720" anchor="ctr">
                    <a:lnL w="9525">
                      <a:solidFill>
                        <a:srgbClr val="CDDADD"/>
                      </a:solidFill>
                    </a:lnL>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950" b="1">
                          <a:solidFill>
                            <a:srgbClr val="FFFFFF"/>
                          </a:solidFill>
                          <a:latin typeface="Calibri"/>
                          <a:ea typeface="Calibri"/>
                          <a:cs typeface="Calibri"/>
                        </a:rPr>
                        <a:t>Original paper</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950" b="1">
                          <a:solidFill>
                            <a:srgbClr val="FFFFFF"/>
                          </a:solidFill>
                          <a:latin typeface="Calibri"/>
                          <a:ea typeface="Calibri"/>
                          <a:cs typeface="Calibri"/>
                        </a:rPr>
                        <a:t>Our result</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1950" b="1">
                          <a:solidFill>
                            <a:srgbClr val="FFFFFF"/>
                          </a:solidFill>
                          <a:latin typeface="Calibri"/>
                          <a:ea typeface="Calibri"/>
                          <a:cs typeface="Calibri"/>
                        </a:rPr>
                        <a:t>Difference</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r>
              <a:tr h="800100">
                <a:tc>
                  <a:txBody>
                    <a:bodyPr lIns="133350" tIns="85725" rIns="95250" bIns="85725"/>
                    <a:lstStyle/>
                    <a:p>
                      <a:r>
                        <a:rPr sz="1950" b="0">
                          <a:solidFill>
                            <a:srgbClr val="20384A"/>
                          </a:solidFill>
                          <a:latin typeface="Calibri"/>
                          <a:ea typeface="Calibri"/>
                          <a:cs typeface="Calibri"/>
                        </a:rPr>
                        <a:t>3-way 5-shot</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90.36 ± 1.38%</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94.05 ± 1.20%</a:t>
                      </a:r>
                    </a:p>
                  </a:txBody>
                  <a:tcPr marL="91440" marR="91440" marT="45720" marB="45720" anchor="ctr">
                    <a:lnR w="9525">
                      <a:solidFill>
                        <a:srgbClr val="CDDADD"/>
                      </a:solidFill>
                    </a:lnR>
                    <a:lnB w="9525">
                      <a:solidFill>
                        <a:srgbClr val="CDDADD"/>
                      </a:solidFill>
                    </a:lnB>
                    <a:solidFill>
                      <a:srgbClr val="FFFFFF"/>
                    </a:solidFill>
                  </a:tcPr>
                </a:tc>
                <a:tc>
                  <a:txBody>
                    <a:bodyPr lIns="133350" tIns="85725" rIns="95250" bIns="85725"/>
                    <a:lstStyle/>
                    <a:p>
                      <a:r>
                        <a:rPr sz="1950" b="0">
                          <a:solidFill>
                            <a:srgbClr val="20384A"/>
                          </a:solidFill>
                          <a:latin typeface="Calibri"/>
                          <a:ea typeface="Calibri"/>
                          <a:cs typeface="Calibri"/>
                        </a:rPr>
                        <a:t>3.69 points higher</a:t>
                      </a:r>
                    </a:p>
                  </a:txBody>
                  <a:tcPr marL="91440" marR="91440" marT="45720" marB="45720" anchor="ctr">
                    <a:lnR w="9525">
                      <a:solidFill>
                        <a:srgbClr val="CDDADD"/>
                      </a:solidFill>
                    </a:lnR>
                    <a:lnB w="9525">
                      <a:solidFill>
                        <a:srgbClr val="CDDADD"/>
                      </a:solidFill>
                    </a:lnB>
                    <a:solidFill>
                      <a:srgbClr val="FFFFFF"/>
                    </a:solidFill>
                  </a:tcPr>
                </a:tc>
              </a:tr>
              <a:tr h="800100">
                <a:tc>
                  <a:txBody>
                    <a:bodyPr lIns="133350" tIns="85725" rIns="95250" bIns="85725"/>
                    <a:lstStyle/>
                    <a:p>
                      <a:r>
                        <a:rPr sz="1950" b="0">
                          <a:solidFill>
                            <a:srgbClr val="20384A"/>
                          </a:solidFill>
                          <a:latin typeface="Calibri"/>
                          <a:ea typeface="Calibri"/>
                          <a:cs typeface="Calibri"/>
                        </a:rPr>
                        <a:t>5-way 5-shot</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1950" b="0">
                          <a:solidFill>
                            <a:srgbClr val="20384A"/>
                          </a:solidFill>
                          <a:latin typeface="Calibri"/>
                          <a:ea typeface="Calibri"/>
                          <a:cs typeface="Calibri"/>
                        </a:rPr>
                        <a:t>79.98 ± 1.17%</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950" b="0">
                          <a:solidFill>
                            <a:srgbClr val="20384A"/>
                          </a:solidFill>
                          <a:latin typeface="Calibri"/>
                          <a:ea typeface="Calibri"/>
                          <a:cs typeface="Calibri"/>
                        </a:rPr>
                        <a:t>58.03 ± 5.30%</a:t>
                      </a:r>
                    </a:p>
                  </a:txBody>
                  <a:tcPr marL="91440" marR="91440" marT="45720" marB="45720" anchor="ctr">
                    <a:lnR w="9525">
                      <a:solidFill>
                        <a:srgbClr val="CDDADD"/>
                      </a:solidFill>
                    </a:lnR>
                    <a:lnB w="9525">
                      <a:solidFill>
                        <a:srgbClr val="CDDADD"/>
                      </a:solidFill>
                    </a:lnB>
                    <a:solidFill>
                      <a:srgbClr val="E9F3F2"/>
                    </a:solidFill>
                  </a:tcPr>
                </a:tc>
                <a:tc>
                  <a:txBody>
                    <a:bodyPr lIns="133350" tIns="85725" rIns="95250" bIns="85725"/>
                    <a:lstStyle/>
                    <a:p>
                      <a:r>
                        <a:rPr sz="1950" b="0">
                          <a:solidFill>
                            <a:srgbClr val="20384A"/>
                          </a:solidFill>
                          <a:latin typeface="Calibri"/>
                          <a:ea typeface="Calibri"/>
                          <a:cs typeface="Calibri"/>
                        </a:rPr>
                        <a:t>21.95 points lower</a:t>
                      </a:r>
                    </a:p>
                  </a:txBody>
                  <a:tcPr marL="91440" marR="91440" marT="45720" marB="45720" anchor="ctr">
                    <a:lnR w="9525">
                      <a:solidFill>
                        <a:srgbClr val="CDDADD"/>
                      </a:solidFill>
                    </a:lnR>
                    <a:lnB w="9525">
                      <a:solidFill>
                        <a:srgbClr val="CDDADD"/>
                      </a:solidFill>
                    </a:lnB>
                    <a:solidFill>
                      <a:srgbClr val="E9F3F2"/>
                    </a:solidFill>
                  </a:tcPr>
                </a:tc>
              </a:tr>
            </a:tbl>
          </a:graphicData>
        </a:graphic>
      </p:graphicFrame>
      <p:sp>
        <p:nvSpPr>
          <p:cNvPr id="6" name="text-4">
            <a:extLst xmlns:a="http://schemas.openxmlformats.org/drawingml/2006/main">
              <a:ext uri="{FF2B5EF4-FFF2-40B4-BE49-F238E27FC236}">
                <a16:creationId xmlns:a16="http://schemas.microsoft.com/office/drawing/2014/main" id="{1272EAF4-9086-4DAD-962F-06B8C2CDEF91}"/>
              </a:ext>
            </a:extLst>
          </p:cNvPr>
          <p:cNvSpPr>
            <a:spLocks xmlns:a="http://schemas.openxmlformats.org/drawingml/2006/main" noGrp="1"/>
          </p:cNvSpPr>
          <p:nvPr/>
        </p:nvSpPr>
        <p:spPr>
          <a:xfrm xmlns:a="http://schemas.openxmlformats.org/drawingml/2006/main">
            <a:off x="628650" y="437197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087E82"/>
                </a:solidFill>
                <a:latin typeface="Calibri"/>
                <a:ea typeface="Calibri"/>
                <a:cs typeface="Calibri"/>
              </a:defRPr>
            </a:defPPr>
          </a:lstStyle>
          <a:p xmlns:a="http://schemas.openxmlformats.org/drawingml/2006/main">
            <a:pPr algn="l">
              <a:defRPr sz="2400" b="1">
                <a:solidFill>
                  <a:srgbClr val="087E82"/>
                </a:solidFill>
                <a:latin typeface="Calibri"/>
                <a:ea typeface="Calibri"/>
                <a:cs typeface="Calibri"/>
              </a:defRPr>
            </a:pPr>
            <a:r>
              <a:rPr sz="2400" b="1">
                <a:solidFill>
                  <a:srgbClr val="087E82"/>
                </a:solidFill>
                <a:latin typeface="Calibri"/>
                <a:ea typeface="Calibri"/>
                <a:cs typeface="Calibri"/>
              </a:rPr>
              <a:t>Why can the numbers differ?</a:t>
            </a:r>
          </a:p>
        </p:txBody>
      </p:sp>
      <p:sp>
        <p:nvSpPr>
          <p:cNvPr id="7" name="text-5">
            <a:extLst xmlns:a="http://schemas.openxmlformats.org/drawingml/2006/main">
              <a:ext uri="{FF2B5EF4-FFF2-40B4-BE49-F238E27FC236}">
                <a16:creationId xmlns:a16="http://schemas.microsoft.com/office/drawing/2014/main" id="{CB93E4EA-A890-41F2-B630-FB5E9B525186}"/>
              </a:ext>
            </a:extLst>
          </p:cNvPr>
          <p:cNvSpPr>
            <a:spLocks xmlns:a="http://schemas.openxmlformats.org/drawingml/2006/main" noGrp="1"/>
          </p:cNvSpPr>
          <p:nvPr/>
        </p:nvSpPr>
        <p:spPr>
          <a:xfrm xmlns:a="http://schemas.openxmlformats.org/drawingml/2006/main">
            <a:off x="628650" y="495300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384A"/>
                </a:solidFill>
                <a:latin typeface="Calibri"/>
                <a:ea typeface="Calibri"/>
                <a:cs typeface="Calibri"/>
              </a:defRPr>
            </a:defPPr>
          </a:lstStyle>
          <a:p xmlns:a="http://schemas.openxmlformats.org/drawingml/2006/main">
            <a:pPr algn="l">
              <a:defRPr sz="2100" b="0">
                <a:solidFill>
                  <a:srgbClr val="20384A"/>
                </a:solidFill>
                <a:latin typeface="Calibri"/>
                <a:ea typeface="Calibri"/>
                <a:cs typeface="Calibri"/>
              </a:defRPr>
            </a:pPr>
            <a:r>
              <a:rPr sz="2100" b="0">
                <a:solidFill>
                  <a:srgbClr val="20384A"/>
                </a:solidFill>
                <a:latin typeface="Calibri"/>
                <a:ea typeface="Calibri"/>
                <a:cs typeface="Calibri"/>
              </a:rPr>
              <a:t>The paper used 1,500 training updates with 25 tasks per update.</a:t>
            </a:r>
          </a:p>
          <a:p xmlns:a="http://schemas.openxmlformats.org/drawingml/2006/main">
            <a:pPr algn="l">
              <a:defRPr sz="2100" b="0">
                <a:solidFill>
                  <a:srgbClr val="20384A"/>
                </a:solidFill>
                <a:latin typeface="Calibri"/>
                <a:ea typeface="Calibri"/>
                <a:cs typeface="Calibri"/>
              </a:defRPr>
            </a:pPr>
            <a:r>
              <a:rPr sz="2100" b="0">
                <a:solidFill>
                  <a:srgbClr val="20384A"/>
                </a:solidFill>
                <a:latin typeface="Calibri"/>
                <a:ea typeface="Calibri"/>
                <a:cs typeface="Calibri"/>
              </a:rPr>
              <a:t>We used 100 updates with 1 task, and different data preparation choices.</a:t>
            </a:r>
          </a:p>
        </p:txBody>
      </p:sp>
      <p:sp>
        <p:nvSpPr>
          <p:cNvPr id="8" name="text-6">
            <a:extLst xmlns:a="http://schemas.openxmlformats.org/drawingml/2006/main">
              <a:ext uri="{FF2B5EF4-FFF2-40B4-BE49-F238E27FC236}">
                <a16:creationId xmlns:a16="http://schemas.microsoft.com/office/drawing/2014/main" id="{8E6384B1-4E3A-4E82-9E13-81FBB2249990}"/>
              </a:ext>
            </a:extLst>
          </p:cNvPr>
          <p:cNvSpPr>
            <a:spLocks xmlns:a="http://schemas.openxmlformats.org/drawingml/2006/main" noGrp="1"/>
          </p:cNvSpPr>
          <p:nvPr/>
        </p:nvSpPr>
        <p:spPr>
          <a:xfrm xmlns:a="http://schemas.openxmlformats.org/drawingml/2006/main">
            <a:off x="628650" y="5924550"/>
            <a:ext cx="1090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36777"/>
                </a:solidFill>
                <a:latin typeface="Calibri"/>
                <a:ea typeface="Calibri"/>
                <a:cs typeface="Calibri"/>
              </a:defRPr>
            </a:defPPr>
          </a:lstStyle>
          <a:p xmlns:a="http://schemas.openxmlformats.org/drawingml/2006/main">
            <a:pPr algn="l">
              <a:defRPr sz="1875" b="0">
                <a:solidFill>
                  <a:srgbClr val="536777"/>
                </a:solidFill>
                <a:latin typeface="Calibri"/>
                <a:ea typeface="Calibri"/>
                <a:cs typeface="Calibri"/>
              </a:defRPr>
            </a:pPr>
            <a:r>
              <a:rPr sz="1875" b="0">
                <a:solidFill>
                  <a:srgbClr val="536777"/>
                </a:solidFill>
                <a:latin typeface="Calibri"/>
                <a:ea typeface="Calibri"/>
                <a:cs typeface="Calibri"/>
              </a:rPr>
              <a:t>Our higher 3-way score does not prove a better method: the setups are not identical.</a:t>
            </a:r>
          </a:p>
        </p:txBody>
      </p:sp>
    </p:spTree>
    <p:extLst>
      <p:ext uri="{BB962C8B-B14F-4D97-AF65-F5344CB8AC3E}">
        <p14:creationId xmlns:p14="http://schemas.microsoft.com/office/powerpoint/2010/main" val="225447754"/>
      </p:ext>
    </p:extLst>
  </p:cSld>
</p:sld>
</file>

<file path=ppt/slides/slide1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C6116E6-A609-492F-AC70-C073FEE758A3}"/>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Limitations and what we would improve</a:t>
            </a:r>
          </a:p>
        </p:txBody>
      </p:sp>
      <p:sp>
        <p:nvSpPr>
          <p:cNvPr id="2" name="text-1">
            <a:extLst xmlns:a="http://schemas.openxmlformats.org/drawingml/2006/main">
              <a:ext uri="{FF2B5EF4-FFF2-40B4-BE49-F238E27FC236}">
                <a16:creationId xmlns:a16="http://schemas.microsoft.com/office/drawing/2014/main" id="{7D87468C-9DB3-4BB8-9C6C-71F242F8012A}"/>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These are next steps, not experiments already completed.</a:t>
            </a:r>
          </a:p>
        </p:txBody>
      </p:sp>
      <p:sp>
        <p:nvSpPr>
          <p:cNvPr id="3" name="text-2">
            <a:extLst xmlns:a="http://schemas.openxmlformats.org/drawingml/2006/main">
              <a:ext uri="{FF2B5EF4-FFF2-40B4-BE49-F238E27FC236}">
                <a16:creationId xmlns:a16="http://schemas.microsoft.com/office/drawing/2014/main" id="{D61C9844-3425-4B1D-88FD-38680797E13E}"/>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Sources: project paper; paper_analysis.md; replication_checklist.md</a:t>
            </a:r>
          </a:p>
        </p:txBody>
      </p:sp>
      <p:sp>
        <p:nvSpPr>
          <p:cNvPr id="4" name="text-3">
            <a:extLst xmlns:a="http://schemas.openxmlformats.org/drawingml/2006/main">
              <a:ext uri="{FF2B5EF4-FFF2-40B4-BE49-F238E27FC236}">
                <a16:creationId xmlns:a16="http://schemas.microsoft.com/office/drawing/2014/main" id="{AD1A94D9-060F-47F3-A15D-113D1CBCB5F3}"/>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4541EE40-851A-4F8B-9B98-7A2D14CBCC6A}"/>
              </a:ext>
            </a:extLst>
          </p:cNvPr>
          <p:cNvGraphicFramePr/>
          <p:nvPr/>
        </p:nvGraphicFramePr>
        <p:xfrm>
          <a:off xmlns:a="http://schemas.openxmlformats.org/drawingml/2006/main" x="609600" y="1666875"/>
          <a:ext xmlns:a="http://schemas.openxmlformats.org/drawingml/2006/main" cx="10972800" cy="3905250"/>
        </p:xfrm>
        <a:graphic xmlns:a="http://schemas.openxmlformats.org/drawingml/2006/main">
          <a:graphicData uri="http://schemas.openxmlformats.org/drawingml/2006/table">
            <a:tbl>
              <a:tblPr/>
              <a:tblGrid>
                <a:gridCol w="5400675"/>
                <a:gridCol w="5572125"/>
              </a:tblGrid>
              <a:tr h="781050">
                <a:tc>
                  <a:txBody>
                    <a:bodyPr lIns="133350" tIns="85725" rIns="95250" bIns="85725"/>
                    <a:lstStyle/>
                    <a:p>
                      <a:r>
                        <a:rPr sz="2025" b="1">
                          <a:solidFill>
                            <a:srgbClr val="FFFFFF"/>
                          </a:solidFill>
                          <a:latin typeface="Calibri"/>
                          <a:ea typeface="Calibri"/>
                          <a:cs typeface="Calibri"/>
                        </a:rPr>
                        <a:t>Current limitation</a:t>
                      </a:r>
                    </a:p>
                  </a:txBody>
                  <a:tcPr marL="91440" marR="91440" marT="45720" marB="45720" anchor="ctr">
                    <a:lnL w="9525">
                      <a:solidFill>
                        <a:srgbClr val="CDDADD"/>
                      </a:solidFill>
                    </a:lnL>
                    <a:lnR w="9525">
                      <a:solidFill>
                        <a:srgbClr val="CDDADD"/>
                      </a:solidFill>
                    </a:lnR>
                    <a:lnT w="9525">
                      <a:solidFill>
                        <a:srgbClr val="CDDADD"/>
                      </a:solidFill>
                    </a:lnT>
                    <a:lnB w="9525">
                      <a:solidFill>
                        <a:srgbClr val="CDDADD"/>
                      </a:solidFill>
                    </a:lnB>
                    <a:solidFill>
                      <a:srgbClr val="112D43"/>
                    </a:solidFill>
                  </a:tcPr>
                </a:tc>
                <a:tc>
                  <a:txBody>
                    <a:bodyPr lIns="133350" tIns="85725" rIns="95250" bIns="85725"/>
                    <a:lstStyle/>
                    <a:p>
                      <a:r>
                        <a:rPr sz="2025" b="1">
                          <a:solidFill>
                            <a:srgbClr val="FFFFFF"/>
                          </a:solidFill>
                          <a:latin typeface="Calibri"/>
                          <a:ea typeface="Calibri"/>
                          <a:cs typeface="Calibri"/>
                        </a:rPr>
                        <a:t>Useful next step</a:t>
                      </a:r>
                    </a:p>
                  </a:txBody>
                  <a:tcPr marL="91440" marR="91440" marT="45720" marB="45720" anchor="ctr">
                    <a:lnR w="9525">
                      <a:solidFill>
                        <a:srgbClr val="CDDADD"/>
                      </a:solidFill>
                    </a:lnR>
                    <a:lnT w="9525">
                      <a:solidFill>
                        <a:srgbClr val="CDDADD"/>
                      </a:solidFill>
                    </a:lnT>
                    <a:lnB w="9525">
                      <a:solidFill>
                        <a:srgbClr val="CDDADD"/>
                      </a:solidFill>
                    </a:lnB>
                    <a:solidFill>
                      <a:srgbClr val="112D43"/>
                    </a:solidFill>
                  </a:tcPr>
                </a:tc>
              </a:tr>
              <a:tr h="781050">
                <a:tc>
                  <a:txBody>
                    <a:bodyPr lIns="133350" tIns="85725" rIns="95250" bIns="85725"/>
                    <a:lstStyle/>
                    <a:p>
                      <a:r>
                        <a:rPr sz="2025" b="0">
                          <a:solidFill>
                            <a:srgbClr val="20384A"/>
                          </a:solidFill>
                          <a:latin typeface="Calibri"/>
                          <a:ea typeface="Calibri"/>
                          <a:cs typeface="Calibri"/>
                        </a:rPr>
                        <a:t>Short CPU training runs</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2025" b="0">
                          <a:solidFill>
                            <a:srgbClr val="20384A"/>
                          </a:solidFill>
                          <a:latin typeface="Calibri"/>
                          <a:ea typeface="Calibri"/>
                          <a:cs typeface="Calibri"/>
                        </a:rPr>
                        <a:t>Train with the original paper’s larger budget</a:t>
                      </a:r>
                    </a:p>
                  </a:txBody>
                  <a:tcPr marL="91440" marR="91440" marT="45720" marB="45720" anchor="ctr">
                    <a:lnR w="9525">
                      <a:solidFill>
                        <a:srgbClr val="CDDADD"/>
                      </a:solidFill>
                    </a:lnR>
                    <a:lnB w="9525">
                      <a:solidFill>
                        <a:srgbClr val="CDDADD"/>
                      </a:solidFill>
                    </a:lnB>
                    <a:solidFill>
                      <a:srgbClr val="FFFFFF"/>
                    </a:solidFill>
                  </a:tcPr>
                </a:tc>
              </a:tr>
              <a:tr h="781050">
                <a:tc>
                  <a:txBody>
                    <a:bodyPr lIns="133350" tIns="85725" rIns="95250" bIns="85725"/>
                    <a:lstStyle/>
                    <a:p>
                      <a:r>
                        <a:rPr sz="2025" b="0">
                          <a:solidFill>
                            <a:srgbClr val="20384A"/>
                          </a:solidFill>
                          <a:latin typeface="Calibri"/>
                          <a:ea typeface="Calibri"/>
                          <a:cs typeface="Calibri"/>
                        </a:rPr>
                        <a:t>Only two five-shot settings tested</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2025" b="0">
                          <a:solidFill>
                            <a:srgbClr val="20384A"/>
                          </a:solidFill>
                          <a:latin typeface="Calibri"/>
                          <a:ea typeface="Calibri"/>
                          <a:cs typeface="Calibri"/>
                        </a:rPr>
                        <a:t>Add one-shot tests and baseline models</a:t>
                      </a:r>
                    </a:p>
                  </a:txBody>
                  <a:tcPr marL="91440" marR="91440" marT="45720" marB="45720" anchor="ctr">
                    <a:lnR w="9525">
                      <a:solidFill>
                        <a:srgbClr val="CDDADD"/>
                      </a:solidFill>
                    </a:lnR>
                    <a:lnB w="9525">
                      <a:solidFill>
                        <a:srgbClr val="CDDADD"/>
                      </a:solidFill>
                    </a:lnB>
                    <a:solidFill>
                      <a:srgbClr val="E9F3F2"/>
                    </a:solidFill>
                  </a:tcPr>
                </a:tc>
              </a:tr>
              <a:tr h="781050">
                <a:tc>
                  <a:txBody>
                    <a:bodyPr lIns="133350" tIns="85725" rIns="95250" bIns="85725"/>
                    <a:lstStyle/>
                    <a:p>
                      <a:r>
                        <a:rPr sz="2025" b="0">
                          <a:solidFill>
                            <a:srgbClr val="20384A"/>
                          </a:solidFill>
                          <a:latin typeface="Calibri"/>
                          <a:ea typeface="Calibri"/>
                          <a:cs typeface="Calibri"/>
                        </a:rPr>
                        <a:t>Data from the same laboratory setup</a:t>
                      </a:r>
                    </a:p>
                  </a:txBody>
                  <a:tcPr marL="91440" marR="91440" marT="45720" marB="45720" anchor="ctr">
                    <a:lnL w="9525">
                      <a:solidFill>
                        <a:srgbClr val="CDDADD"/>
                      </a:solidFill>
                    </a:lnL>
                    <a:lnR w="9525">
                      <a:solidFill>
                        <a:srgbClr val="CDDADD"/>
                      </a:solidFill>
                    </a:lnR>
                    <a:lnB w="9525">
                      <a:solidFill>
                        <a:srgbClr val="CDDADD"/>
                      </a:solidFill>
                    </a:lnB>
                    <a:solidFill>
                      <a:srgbClr val="FFFFFF"/>
                    </a:solidFill>
                  </a:tcPr>
                </a:tc>
                <a:tc>
                  <a:txBody>
                    <a:bodyPr lIns="133350" tIns="85725" rIns="95250" bIns="85725"/>
                    <a:lstStyle/>
                    <a:p>
                      <a:r>
                        <a:rPr sz="2025" b="0">
                          <a:solidFill>
                            <a:srgbClr val="20384A"/>
                          </a:solidFill>
                          <a:latin typeface="Calibri"/>
                          <a:ea typeface="Calibri"/>
                          <a:cs typeface="Calibri"/>
                        </a:rPr>
                        <a:t>Test on different bearings and Paderborn data</a:t>
                      </a:r>
                    </a:p>
                  </a:txBody>
                  <a:tcPr marL="91440" marR="91440" marT="45720" marB="45720" anchor="ctr">
                    <a:lnR w="9525">
                      <a:solidFill>
                        <a:srgbClr val="CDDADD"/>
                      </a:solidFill>
                    </a:lnR>
                    <a:lnB w="9525">
                      <a:solidFill>
                        <a:srgbClr val="CDDADD"/>
                      </a:solidFill>
                    </a:lnB>
                    <a:solidFill>
                      <a:srgbClr val="FFFFFF"/>
                    </a:solidFill>
                  </a:tcPr>
                </a:tc>
              </a:tr>
              <a:tr h="781050">
                <a:tc>
                  <a:txBody>
                    <a:bodyPr lIns="133350" tIns="85725" rIns="95250" bIns="85725"/>
                    <a:lstStyle/>
                    <a:p>
                      <a:r>
                        <a:rPr sz="2025" b="0">
                          <a:solidFill>
                            <a:srgbClr val="20384A"/>
                          </a:solidFill>
                          <a:latin typeface="Calibri"/>
                          <a:ea typeface="Calibri"/>
                          <a:cs typeface="Calibri"/>
                        </a:rPr>
                        <a:t>Some paper details are not fully specified</a:t>
                      </a:r>
                    </a:p>
                  </a:txBody>
                  <a:tcPr marL="91440" marR="91440" marT="45720" marB="45720" anchor="ctr">
                    <a:lnL w="9525">
                      <a:solidFill>
                        <a:srgbClr val="CDDADD"/>
                      </a:solidFill>
                    </a:lnL>
                    <a:lnR w="9525">
                      <a:solidFill>
                        <a:srgbClr val="CDDADD"/>
                      </a:solidFill>
                    </a:lnR>
                    <a:lnB w="9525">
                      <a:solidFill>
                        <a:srgbClr val="CDDADD"/>
                      </a:solidFill>
                    </a:lnB>
                    <a:solidFill>
                      <a:srgbClr val="E9F3F2"/>
                    </a:solidFill>
                  </a:tcPr>
                </a:tc>
                <a:tc>
                  <a:txBody>
                    <a:bodyPr lIns="133350" tIns="85725" rIns="95250" bIns="85725"/>
                    <a:lstStyle/>
                    <a:p>
                      <a:r>
                        <a:rPr sz="2025" b="0">
                          <a:solidFill>
                            <a:srgbClr val="20384A"/>
                          </a:solidFill>
                          <a:latin typeface="Calibri"/>
                          <a:ea typeface="Calibri"/>
                          <a:cs typeface="Calibri"/>
                        </a:rPr>
                        <a:t>Compare preprocessing choices one at a time</a:t>
                      </a:r>
                    </a:p>
                  </a:txBody>
                  <a:tcPr marL="91440" marR="91440" marT="45720" marB="45720" anchor="ctr">
                    <a:lnR w="9525">
                      <a:solidFill>
                        <a:srgbClr val="CDDADD"/>
                      </a:solidFill>
                    </a:lnR>
                    <a:lnB w="9525">
                      <a:solidFill>
                        <a:srgbClr val="CDDADD"/>
                      </a:solidFill>
                    </a:lnB>
                    <a:solidFill>
                      <a:srgbClr val="E9F3F2"/>
                    </a:solidFill>
                  </a:tcPr>
                </a:tc>
              </a:tr>
            </a:tbl>
          </a:graphicData>
        </a:graphic>
      </p:graphicFrame>
      <p:sp>
        <p:nvSpPr>
          <p:cNvPr id="6" name="text-4">
            <a:extLst xmlns:a="http://schemas.openxmlformats.org/drawingml/2006/main">
              <a:ext uri="{FF2B5EF4-FFF2-40B4-BE49-F238E27FC236}">
                <a16:creationId xmlns:a16="http://schemas.microsoft.com/office/drawing/2014/main" id="{15C5C9BA-D305-4AA8-A080-6F694E17AF0B}"/>
              </a:ext>
            </a:extLst>
          </p:cNvPr>
          <p:cNvSpPr>
            <a:spLocks xmlns:a="http://schemas.openxmlformats.org/drawingml/2006/main" noGrp="1"/>
          </p:cNvSpPr>
          <p:nvPr/>
        </p:nvSpPr>
        <p:spPr>
          <a:xfrm xmlns:a="http://schemas.openxmlformats.org/drawingml/2006/main">
            <a:off x="628650" y="578167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87E82"/>
                </a:solidFill>
                <a:latin typeface="Calibri"/>
                <a:ea typeface="Calibri"/>
                <a:cs typeface="Calibri"/>
              </a:defRPr>
            </a:defPPr>
          </a:lstStyle>
          <a:p xmlns:a="http://schemas.openxmlformats.org/drawingml/2006/main">
            <a:pPr algn="l">
              <a:defRPr sz="1950" b="1">
                <a:solidFill>
                  <a:srgbClr val="087E82"/>
                </a:solidFill>
                <a:latin typeface="Calibri"/>
                <a:ea typeface="Calibri"/>
                <a:cs typeface="Calibri"/>
              </a:defRPr>
            </a:pPr>
            <a:r>
              <a:rPr sz="1950" b="1">
                <a:solidFill>
                  <a:srgbClr val="087E82"/>
                </a:solidFill>
                <a:latin typeface="Calibri"/>
                <a:ea typeface="Calibri"/>
                <a:cs typeface="Calibri"/>
              </a:rPr>
              <a:t>The most important gap is the weak 5-way result; more testing is needed to explain it.</a:t>
            </a:r>
          </a:p>
        </p:txBody>
      </p:sp>
    </p:spTree>
    <p:extLst>
      <p:ext uri="{BB962C8B-B14F-4D97-AF65-F5344CB8AC3E}">
        <p14:creationId xmlns:p14="http://schemas.microsoft.com/office/powerpoint/2010/main" val="1183792355"/>
      </p:ext>
    </p:extLst>
  </p:cSld>
</p:sld>
</file>

<file path=ppt/slides/slide1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294BF6B-7974-4233-9467-0D3F4354EA4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What we achieved and learned</a:t>
            </a:r>
          </a:p>
        </p:txBody>
      </p:sp>
      <p:sp>
        <p:nvSpPr>
          <p:cNvPr id="2" name="text-1">
            <a:extLst xmlns:a="http://schemas.openxmlformats.org/drawingml/2006/main">
              <a:ext uri="{FF2B5EF4-FFF2-40B4-BE49-F238E27FC236}">
                <a16:creationId xmlns:a16="http://schemas.microsoft.com/office/drawing/2014/main" id="{4EBDF359-8C4A-4240-AD50-16B04557AD7C}"/>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We reproduced the core method and measured how well it worked.</a:t>
            </a:r>
          </a:p>
        </p:txBody>
      </p:sp>
      <p:sp>
        <p:nvSpPr>
          <p:cNvPr id="3" name="text-2">
            <a:extLst xmlns:a="http://schemas.openxmlformats.org/drawingml/2006/main">
              <a:ext uri="{FF2B5EF4-FFF2-40B4-BE49-F238E27FC236}">
                <a16:creationId xmlns:a16="http://schemas.microsoft.com/office/drawing/2014/main" id="{15C1A92D-5577-4102-9F51-D30A37EBA117}"/>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Evidence: completed notebook, saved predictions, figures and result tables</a:t>
            </a:r>
          </a:p>
        </p:txBody>
      </p:sp>
      <p:sp>
        <p:nvSpPr>
          <p:cNvPr id="4" name="text-3">
            <a:extLst xmlns:a="http://schemas.openxmlformats.org/drawingml/2006/main">
              <a:ext uri="{FF2B5EF4-FFF2-40B4-BE49-F238E27FC236}">
                <a16:creationId xmlns:a16="http://schemas.microsoft.com/office/drawing/2014/main" id="{BE4D6BE7-5169-4999-A738-30251EE5A616}"/>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15</a:t>
            </a:r>
          </a:p>
        </p:txBody>
      </p:sp>
      <p:sp>
        <p:nvSpPr>
          <p:cNvPr id="5" name="text-4">
            <a:extLst xmlns:a="http://schemas.openxmlformats.org/drawingml/2006/main">
              <a:ext uri="{FF2B5EF4-FFF2-40B4-BE49-F238E27FC236}">
                <a16:creationId xmlns:a16="http://schemas.microsoft.com/office/drawing/2014/main" id="{65AB7FD6-90A6-4F99-8005-1E98106CE766}"/>
              </a:ext>
            </a:extLst>
          </p:cNvPr>
          <p:cNvSpPr>
            <a:spLocks xmlns:a="http://schemas.openxmlformats.org/drawingml/2006/main" noGrp="1"/>
          </p:cNvSpPr>
          <p:nvPr/>
        </p:nvSpPr>
        <p:spPr>
          <a:xfrm xmlns:a="http://schemas.openxmlformats.org/drawingml/2006/main">
            <a:off x="609600" y="1619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A complete working implementation</a:t>
            </a:r>
          </a:p>
        </p:txBody>
      </p:sp>
      <p:sp>
        <p:nvSpPr>
          <p:cNvPr id="6" name="text-5">
            <a:extLst xmlns:a="http://schemas.openxmlformats.org/drawingml/2006/main">
              <a:ext uri="{FF2B5EF4-FFF2-40B4-BE49-F238E27FC236}">
                <a16:creationId xmlns:a16="http://schemas.microsoft.com/office/drawing/2014/main" id="{F5DA0EA0-FBD8-41F4-AD08-4425EFBB0C0E}"/>
              </a:ext>
            </a:extLst>
          </p:cNvPr>
          <p:cNvSpPr>
            <a:spLocks xmlns:a="http://schemas.openxmlformats.org/drawingml/2006/main" noGrp="1"/>
          </p:cNvSpPr>
          <p:nvPr/>
        </p:nvSpPr>
        <p:spPr>
          <a:xfrm xmlns:a="http://schemas.openxmlformats.org/drawingml/2006/main">
            <a:off x="609600" y="20288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Real CWRU data → signal preparation → CNN + MAML → tested predictions.</a:t>
            </a:r>
          </a:p>
        </p:txBody>
      </p:sp>
      <p:sp>
        <p:nvSpPr>
          <p:cNvPr id="7" name="text-6">
            <a:extLst xmlns:a="http://schemas.openxmlformats.org/drawingml/2006/main">
              <a:ext uri="{FF2B5EF4-FFF2-40B4-BE49-F238E27FC236}">
                <a16:creationId xmlns:a16="http://schemas.microsoft.com/office/drawing/2014/main" id="{0277C917-B4E1-4884-9946-34A7A67A9559}"/>
              </a:ext>
            </a:extLst>
          </p:cNvPr>
          <p:cNvSpPr>
            <a:spLocks xmlns:a="http://schemas.openxmlformats.org/drawingml/2006/main" noGrp="1"/>
          </p:cNvSpPr>
          <p:nvPr/>
        </p:nvSpPr>
        <p:spPr>
          <a:xfrm xmlns:a="http://schemas.openxmlformats.org/drawingml/2006/main">
            <a:off x="609600" y="2876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Measured accuracy</a:t>
            </a:r>
          </a:p>
        </p:txBody>
      </p:sp>
      <p:sp>
        <p:nvSpPr>
          <p:cNvPr id="8" name="text-7">
            <a:extLst xmlns:a="http://schemas.openxmlformats.org/drawingml/2006/main">
              <a:ext uri="{FF2B5EF4-FFF2-40B4-BE49-F238E27FC236}">
                <a16:creationId xmlns:a16="http://schemas.microsoft.com/office/drawing/2014/main" id="{BA295E4A-C82B-4C19-82E5-5DE79EDC0A6D}"/>
              </a:ext>
            </a:extLst>
          </p:cNvPr>
          <p:cNvSpPr>
            <a:spLocks xmlns:a="http://schemas.openxmlformats.org/drawingml/2006/main" noGrp="1"/>
          </p:cNvSpPr>
          <p:nvPr/>
        </p:nvSpPr>
        <p:spPr>
          <a:xfrm xmlns:a="http://schemas.openxmlformats.org/drawingml/2006/main">
            <a:off x="609600" y="3286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3-way accuracy: 94.05%.   5-way accuracy: 58.03%, with clear limitations.</a:t>
            </a:r>
          </a:p>
        </p:txBody>
      </p:sp>
      <p:sp>
        <p:nvSpPr>
          <p:cNvPr id="9" name="text-8">
            <a:extLst xmlns:a="http://schemas.openxmlformats.org/drawingml/2006/main">
              <a:ext uri="{FF2B5EF4-FFF2-40B4-BE49-F238E27FC236}">
                <a16:creationId xmlns:a16="http://schemas.microsoft.com/office/drawing/2014/main" id="{A6D6FA99-D496-4DB0-93AD-3DFF1BA4FE99}"/>
              </a:ext>
            </a:extLst>
          </p:cNvPr>
          <p:cNvSpPr>
            <a:spLocks xmlns:a="http://schemas.openxmlformats.org/drawingml/2006/main" noGrp="1"/>
          </p:cNvSpPr>
          <p:nvPr/>
        </p:nvSpPr>
        <p:spPr>
          <a:xfrm xmlns:a="http://schemas.openxmlformats.org/drawingml/2006/main">
            <a:off x="609600" y="4133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E82"/>
                </a:solidFill>
                <a:latin typeface="Calibri"/>
                <a:ea typeface="Calibri"/>
                <a:cs typeface="Calibri"/>
              </a:defRPr>
            </a:defPPr>
          </a:lstStyle>
          <a:p xmlns:a="http://schemas.openxmlformats.org/drawingml/2006/main">
            <a:pPr algn="l">
              <a:defRPr sz="2175" b="1">
                <a:solidFill>
                  <a:srgbClr val="087E82"/>
                </a:solidFill>
                <a:latin typeface="Calibri"/>
                <a:ea typeface="Calibri"/>
                <a:cs typeface="Calibri"/>
              </a:defRPr>
            </a:pPr>
            <a:r>
              <a:rPr sz="2175" b="1">
                <a:solidFill>
                  <a:srgbClr val="087E82"/>
                </a:solidFill>
                <a:latin typeface="Calibri"/>
                <a:ea typeface="Calibri"/>
                <a:cs typeface="Calibri"/>
              </a:rPr>
              <a:t>The main lesson</a:t>
            </a:r>
          </a:p>
        </p:txBody>
      </p:sp>
      <p:sp>
        <p:nvSpPr>
          <p:cNvPr id="10" name="text-9">
            <a:extLst xmlns:a="http://schemas.openxmlformats.org/drawingml/2006/main">
              <a:ext uri="{FF2B5EF4-FFF2-40B4-BE49-F238E27FC236}">
                <a16:creationId xmlns:a16="http://schemas.microsoft.com/office/drawing/2014/main" id="{AC3B733E-98D4-4C1B-BCAB-3F941EA13E00}"/>
              </a:ext>
            </a:extLst>
          </p:cNvPr>
          <p:cNvSpPr>
            <a:spLocks xmlns:a="http://schemas.openxmlformats.org/drawingml/2006/main" noGrp="1"/>
          </p:cNvSpPr>
          <p:nvPr/>
        </p:nvSpPr>
        <p:spPr>
          <a:xfrm xmlns:a="http://schemas.openxmlformats.org/drawingml/2006/main">
            <a:off x="609600" y="454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384A"/>
                </a:solidFill>
                <a:latin typeface="Calibri"/>
                <a:ea typeface="Calibri"/>
                <a:cs typeface="Calibri"/>
              </a:defRPr>
            </a:defPPr>
          </a:lstStyle>
          <a:p xmlns:a="http://schemas.openxmlformats.org/drawingml/2006/main">
            <a:pPr algn="l">
              <a:defRPr sz="2025" b="0">
                <a:solidFill>
                  <a:srgbClr val="20384A"/>
                </a:solidFill>
                <a:latin typeface="Calibri"/>
                <a:ea typeface="Calibri"/>
                <a:cs typeface="Calibri"/>
              </a:defRPr>
            </a:pPr>
            <a:r>
              <a:rPr sz="2025" b="0">
                <a:solidFill>
                  <a:srgbClr val="20384A"/>
                </a:solidFill>
                <a:latin typeface="Calibri"/>
                <a:ea typeface="Calibri"/>
                <a:cs typeface="Calibri"/>
              </a:rPr>
              <a:t>A model can learn to adapt from a few examples, but new faults still need careful testing.</a:t>
            </a:r>
          </a:p>
        </p:txBody>
      </p:sp>
      <p:sp>
        <p:nvSpPr>
          <p:cNvPr id="11" name="text-10">
            <a:extLst xmlns:a="http://schemas.openxmlformats.org/drawingml/2006/main">
              <a:ext uri="{FF2B5EF4-FFF2-40B4-BE49-F238E27FC236}">
                <a16:creationId xmlns:a16="http://schemas.microsoft.com/office/drawing/2014/main" id="{45413F84-EC15-4632-82A4-BC486E28E50C}"/>
              </a:ext>
            </a:extLst>
          </p:cNvPr>
          <p:cNvSpPr>
            <a:spLocks xmlns:a="http://schemas.openxmlformats.org/drawingml/2006/main" noGrp="1"/>
          </p:cNvSpPr>
          <p:nvPr/>
        </p:nvSpPr>
        <p:spPr>
          <a:xfrm xmlns:a="http://schemas.openxmlformats.org/drawingml/2006/main">
            <a:off x="628650" y="573405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87E82"/>
                </a:solidFill>
                <a:latin typeface="Calibri"/>
                <a:ea typeface="Calibri"/>
                <a:cs typeface="Calibri"/>
              </a:defRPr>
            </a:defPPr>
          </a:lstStyle>
          <a:p xmlns:a="http://schemas.openxmlformats.org/drawingml/2006/main">
            <a:pPr algn="l">
              <a:defRPr sz="2325" b="1">
                <a:solidFill>
                  <a:srgbClr val="087E82"/>
                </a:solidFill>
                <a:latin typeface="Calibri"/>
                <a:ea typeface="Calibri"/>
                <a:cs typeface="Calibri"/>
              </a:defRPr>
            </a:pPr>
            <a:r>
              <a:rPr sz="2325" b="1">
                <a:solidFill>
                  <a:srgbClr val="087E82"/>
                </a:solidFill>
                <a:latin typeface="Calibri"/>
                <a:ea typeface="Calibri"/>
                <a:cs typeface="Calibri"/>
              </a:rPr>
              <a:t>Thank you — questions are welcome.</a:t>
            </a:r>
          </a:p>
        </p:txBody>
      </p:sp>
    </p:spTree>
    <p:extLst>
      <p:ext uri="{BB962C8B-B14F-4D97-AF65-F5344CB8AC3E}">
        <p14:creationId xmlns:p14="http://schemas.microsoft.com/office/powerpoint/2010/main" val="2020616038"/>
      </p:ext>
    </p:extLst>
  </p:cSld>
</p:sld>
</file>

<file path=ppt/slides/slide1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1D95764-735A-4715-A8F1-FACB79463D5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2D43"/>
                </a:solidFill>
                <a:latin typeface="Calibri"/>
                <a:ea typeface="Calibri"/>
                <a:cs typeface="Calibri"/>
              </a:defRPr>
            </a:defPPr>
          </a:lstStyle>
          <a:p xmlns:a="http://schemas.openxmlformats.org/drawingml/2006/main">
            <a:pPr algn="l">
              <a:defRPr sz="3300" b="1">
                <a:solidFill>
                  <a:srgbClr val="112D43"/>
                </a:solidFill>
                <a:latin typeface="Calibri"/>
                <a:ea typeface="Calibri"/>
                <a:cs typeface="Calibri"/>
              </a:defRPr>
            </a:pPr>
            <a:r>
              <a:rPr sz="3300" b="1">
                <a:solidFill>
                  <a:srgbClr val="112D43"/>
                </a:solidFill>
                <a:latin typeface="Calibri"/>
                <a:ea typeface="Calibri"/>
                <a:cs typeface="Calibri"/>
              </a:rPr>
              <a:t>References</a:t>
            </a:r>
          </a:p>
        </p:txBody>
      </p:sp>
      <p:sp>
        <p:nvSpPr>
          <p:cNvPr id="2" name="text-1">
            <a:extLst xmlns:a="http://schemas.openxmlformats.org/drawingml/2006/main">
              <a:ext uri="{FF2B5EF4-FFF2-40B4-BE49-F238E27FC236}">
                <a16:creationId xmlns:a16="http://schemas.microsoft.com/office/drawing/2014/main" id="{D5A73FAD-11BF-419A-952A-1F28FCA07ED2}"/>
              </a:ext>
            </a:extLst>
          </p:cNvPr>
          <p:cNvSpPr>
            <a:spLocks xmlns:a="http://schemas.openxmlformats.org/drawingml/2006/main" noGrp="1"/>
          </p:cNvSpPr>
          <p:nvPr/>
        </p:nvSpPr>
        <p:spPr>
          <a:xfrm xmlns:a="http://schemas.openxmlformats.org/drawingml/2006/main">
            <a:off x="628650" y="1028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777"/>
                </a:solidFill>
                <a:latin typeface="Calibri"/>
                <a:ea typeface="Calibri"/>
                <a:cs typeface="Calibri"/>
              </a:defRPr>
            </a:defPPr>
          </a:lstStyle>
          <a:p xmlns:a="http://schemas.openxmlformats.org/drawingml/2006/main">
            <a:pPr algn="l">
              <a:defRPr sz="1725" b="0">
                <a:solidFill>
                  <a:srgbClr val="536777"/>
                </a:solidFill>
                <a:latin typeface="Calibri"/>
                <a:ea typeface="Calibri"/>
                <a:cs typeface="Calibri"/>
              </a:defRPr>
            </a:pPr>
            <a:r>
              <a:rPr sz="1725" b="0">
                <a:solidFill>
                  <a:srgbClr val="536777"/>
                </a:solidFill>
                <a:latin typeface="Calibri"/>
                <a:ea typeface="Calibri"/>
                <a:cs typeface="Calibri"/>
              </a:rPr>
              <a:t>Main sources used for the method, dataset and implementation</a:t>
            </a:r>
          </a:p>
        </p:txBody>
      </p:sp>
      <p:sp>
        <p:nvSpPr>
          <p:cNvPr id="3" name="text-2">
            <a:extLst xmlns:a="http://schemas.openxmlformats.org/drawingml/2006/main">
              <a:ext uri="{FF2B5EF4-FFF2-40B4-BE49-F238E27FC236}">
                <a16:creationId xmlns:a16="http://schemas.microsoft.com/office/drawing/2014/main" id="{62F31C17-AC17-468B-AF1A-244DF95D99A3}"/>
              </a:ext>
            </a:extLst>
          </p:cNvPr>
          <p:cNvSpPr>
            <a:spLocks xmlns:a="http://schemas.openxmlformats.org/drawingml/2006/main" noGrp="1"/>
          </p:cNvSpPr>
          <p:nvPr/>
        </p:nvSpPr>
        <p:spPr>
          <a:xfrm xmlns:a="http://schemas.openxmlformats.org/drawingml/2006/main">
            <a:off x="6096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36777"/>
                </a:solidFill>
                <a:latin typeface="Calibri"/>
                <a:ea typeface="Calibri"/>
                <a:cs typeface="Calibri"/>
              </a:defRPr>
            </a:defPPr>
          </a:lstStyle>
          <a:p xmlns:a="http://schemas.openxmlformats.org/drawingml/2006/main">
            <a:pPr algn="l">
              <a:defRPr sz="1125" b="0">
                <a:solidFill>
                  <a:srgbClr val="536777"/>
                </a:solidFill>
                <a:latin typeface="Calibri"/>
                <a:ea typeface="Calibri"/>
                <a:cs typeface="Calibri"/>
              </a:defRPr>
            </a:pPr>
            <a:r>
              <a:rPr sz="1125" b="0">
                <a:solidFill>
                  <a:srgbClr val="536777"/>
                </a:solidFill>
                <a:latin typeface="Calibri"/>
                <a:ea typeface="Calibri"/>
                <a:cs typeface="Calibri"/>
              </a:rPr>
              <a:t>Full source URLs and project evidence are also included in the speaker notes.</a:t>
            </a:r>
          </a:p>
        </p:txBody>
      </p:sp>
      <p:sp>
        <p:nvSpPr>
          <p:cNvPr id="4" name="text-3">
            <a:extLst xmlns:a="http://schemas.openxmlformats.org/drawingml/2006/main">
              <a:ext uri="{FF2B5EF4-FFF2-40B4-BE49-F238E27FC236}">
                <a16:creationId xmlns:a16="http://schemas.microsoft.com/office/drawing/2014/main" id="{B1C0A2F0-1E1F-4F03-AD47-B44E9AA56CF1}"/>
              </a:ext>
            </a:extLst>
          </p:cNvPr>
          <p:cNvSpPr>
            <a:spLocks xmlns:a="http://schemas.openxmlformats.org/drawingml/2006/main" noGrp="1"/>
          </p:cNvSpPr>
          <p:nvPr/>
        </p:nvSpPr>
        <p:spPr>
          <a:xfrm xmlns:a="http://schemas.openxmlformats.org/drawingml/2006/main">
            <a:off x="11049000" y="63912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777"/>
                </a:solidFill>
                <a:latin typeface="Calibri"/>
                <a:ea typeface="Calibri"/>
                <a:cs typeface="Calibri"/>
              </a:defRPr>
            </a:defPPr>
          </a:lstStyle>
          <a:p xmlns:a="http://schemas.openxmlformats.org/drawingml/2006/main">
            <a:pPr algn="r">
              <a:defRPr sz="1275" b="0">
                <a:solidFill>
                  <a:srgbClr val="536777"/>
                </a:solidFill>
                <a:latin typeface="Calibri"/>
                <a:ea typeface="Calibri"/>
                <a:cs typeface="Calibri"/>
              </a:defRPr>
            </a:pPr>
            <a:r>
              <a:rPr sz="1275" b="0">
                <a:solidFill>
                  <a:srgbClr val="536777"/>
                </a:solidFill>
                <a:latin typeface="Calibri"/>
                <a:ea typeface="Calibri"/>
                <a:cs typeface="Calibri"/>
              </a:rPr>
              <a:t>16</a:t>
            </a:r>
          </a:p>
        </p:txBody>
      </p:sp>
      <p:sp>
        <p:nvSpPr>
          <p:cNvPr id="5" name="text-4">
            <a:extLst xmlns:a="http://schemas.openxmlformats.org/drawingml/2006/main">
              <a:ext uri="{FF2B5EF4-FFF2-40B4-BE49-F238E27FC236}">
                <a16:creationId xmlns:a16="http://schemas.microsoft.com/office/drawing/2014/main" id="{8BD29A95-18AD-43A0-8E2F-9957B9D6BDC5}"/>
              </a:ext>
            </a:extLst>
          </p:cNvPr>
          <p:cNvSpPr>
            <a:spLocks xmlns:a="http://schemas.openxmlformats.org/drawingml/2006/main" noGrp="1"/>
          </p:cNvSpPr>
          <p:nvPr/>
        </p:nvSpPr>
        <p:spPr>
          <a:xfrm xmlns:a="http://schemas.openxmlformats.org/drawingml/2006/main">
            <a:off x="628650" y="1581150"/>
            <a:ext cx="10925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384A"/>
                </a:solidFill>
                <a:latin typeface="Calibri"/>
                <a:ea typeface="Calibri"/>
                <a:cs typeface="Calibri"/>
              </a:defRPr>
            </a:defPPr>
          </a:lstStyle>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[1] S. Zhang, F. Ye, B. Wang and T. G. Habetler (2021).</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Few-Shot Bearing Fault Diagnosis Based on Model-Agnostic Meta-Learning.</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arXiv:2007.12851v4 — arxiv.org/abs/2007.12851</a:t>
            </a:r>
          </a:p>
        </p:txBody>
      </p:sp>
      <p:sp>
        <p:nvSpPr>
          <p:cNvPr id="6" name="text-5">
            <a:extLst xmlns:a="http://schemas.openxmlformats.org/drawingml/2006/main">
              <a:ext uri="{FF2B5EF4-FFF2-40B4-BE49-F238E27FC236}">
                <a16:creationId xmlns:a16="http://schemas.microsoft.com/office/drawing/2014/main" id="{BDBD681C-E928-4E5B-8E6E-A8845993FE83}"/>
              </a:ext>
            </a:extLst>
          </p:cNvPr>
          <p:cNvSpPr>
            <a:spLocks xmlns:a="http://schemas.openxmlformats.org/drawingml/2006/main" noGrp="1"/>
          </p:cNvSpPr>
          <p:nvPr/>
        </p:nvSpPr>
        <p:spPr>
          <a:xfrm xmlns:a="http://schemas.openxmlformats.org/drawingml/2006/main">
            <a:off x="628650" y="2914650"/>
            <a:ext cx="10925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384A"/>
                </a:solidFill>
                <a:latin typeface="Calibri"/>
                <a:ea typeface="Calibri"/>
                <a:cs typeface="Calibri"/>
              </a:defRPr>
            </a:defPPr>
          </a:lstStyle>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[2] C. Finn, P. Abbeel and S. Levine (2017).</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Model-Agnostic Meta-Learning for Fast Adaptation of Deep Networks. ICML.</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proceedings.mlr.press/v70/finn17a.html</a:t>
            </a:r>
          </a:p>
        </p:txBody>
      </p:sp>
      <p:sp>
        <p:nvSpPr>
          <p:cNvPr id="7" name="text-6">
            <a:extLst xmlns:a="http://schemas.openxmlformats.org/drawingml/2006/main">
              <a:ext uri="{FF2B5EF4-FFF2-40B4-BE49-F238E27FC236}">
                <a16:creationId xmlns:a16="http://schemas.microsoft.com/office/drawing/2014/main" id="{8AC7678D-761A-435B-9094-ED80A5649BEA}"/>
              </a:ext>
            </a:extLst>
          </p:cNvPr>
          <p:cNvSpPr>
            <a:spLocks xmlns:a="http://schemas.openxmlformats.org/drawingml/2006/main" noGrp="1"/>
          </p:cNvSpPr>
          <p:nvPr/>
        </p:nvSpPr>
        <p:spPr>
          <a:xfrm xmlns:a="http://schemas.openxmlformats.org/drawingml/2006/main">
            <a:off x="628650" y="4267200"/>
            <a:ext cx="10925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384A"/>
                </a:solidFill>
                <a:latin typeface="Calibri"/>
                <a:ea typeface="Calibri"/>
                <a:cs typeface="Calibri"/>
              </a:defRPr>
            </a:defPPr>
          </a:lstStyle>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[3] Case Western Reserve University — Bearing Data Center.</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engineering.case.edu/bearingdatacenter/download-data-file</a:t>
            </a:r>
          </a:p>
        </p:txBody>
      </p:sp>
      <p:sp>
        <p:nvSpPr>
          <p:cNvPr id="8" name="text-7">
            <a:extLst xmlns:a="http://schemas.openxmlformats.org/drawingml/2006/main">
              <a:ext uri="{FF2B5EF4-FFF2-40B4-BE49-F238E27FC236}">
                <a16:creationId xmlns:a16="http://schemas.microsoft.com/office/drawing/2014/main" id="{738CF438-995D-4DF6-A0CD-40D12A302DBE}"/>
              </a:ext>
            </a:extLst>
          </p:cNvPr>
          <p:cNvSpPr>
            <a:spLocks xmlns:a="http://schemas.openxmlformats.org/drawingml/2006/main" noGrp="1"/>
          </p:cNvSpPr>
          <p:nvPr/>
        </p:nvSpPr>
        <p:spPr>
          <a:xfrm xmlns:a="http://schemas.openxmlformats.org/drawingml/2006/main">
            <a:off x="628650" y="5362575"/>
            <a:ext cx="10925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384A"/>
                </a:solidFill>
                <a:latin typeface="Calibri"/>
                <a:ea typeface="Calibri"/>
                <a:cs typeface="Calibri"/>
              </a:defRPr>
            </a:defPPr>
          </a:lstStyle>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[4] A. Antoniou, H. Edwards and A. Storkey (2019).</a:t>
            </a:r>
          </a:p>
          <a:p xmlns:a="http://schemas.openxmlformats.org/drawingml/2006/main">
            <a:pPr algn="l">
              <a:defRPr sz="1950" b="0">
                <a:solidFill>
                  <a:srgbClr val="20384A"/>
                </a:solidFill>
                <a:latin typeface="Calibri"/>
                <a:ea typeface="Calibri"/>
                <a:cs typeface="Calibri"/>
              </a:defRPr>
            </a:pPr>
            <a:r>
              <a:rPr sz="1950" b="0">
                <a:solidFill>
                  <a:srgbClr val="20384A"/>
                </a:solidFill>
                <a:latin typeface="Calibri"/>
                <a:ea typeface="Calibri"/>
                <a:cs typeface="Calibri"/>
              </a:rPr>
              <a:t>How to Train Your MAML. ICLR. arxiv.org/abs/1810.09502</a:t>
            </a:r>
          </a:p>
        </p:txBody>
      </p:sp>
    </p:spTree>
    <p:extLst>
      <p:ext uri="{BB962C8B-B14F-4D97-AF65-F5344CB8AC3E}">
        <p14:creationId xmlns:p14="http://schemas.microsoft.com/office/powerpoint/2010/main" val="1631911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2026-10-13T07:28:45.4490000Z</dcterms:created>
  <dcterms:modified xsi:type="dcterms:W3CDTF">2026-10-13T07:28:45.4490000Z</dcterms:modified>
</coreProperties>
</file>